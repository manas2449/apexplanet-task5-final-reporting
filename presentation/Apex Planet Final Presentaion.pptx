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4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7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6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d993b5ec_2_7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g3f5d993b5ec_2_7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8" name="Google Shape;128;g3f5d993b5ec_2_7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5d993b5ec_2_7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30" name="Google Shape;130;g3f5d993b5ec_2_7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1" name="Google Shape;131;g3f5d993b5ec_2_7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d993b5ec_2_9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5" name="Google Shape;145;g3f5d993b5ec_2_9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6" name="Google Shape;146;g3f5d993b5ec_2_9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5d993b5ec_2_9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48" name="Google Shape;148;g3f5d993b5ec_2_9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g3f5d993b5ec_2_9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5d993b5ec_2_1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g3f5d993b5ec_2_1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7" name="Google Shape;167;g3f5d993b5ec_2_1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5d993b5ec_2_1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69" name="Google Shape;169;g3f5d993b5ec_2_1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g3f5d993b5ec_2_1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5d993b5ec_2_14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5" name="Google Shape;195;g3f5d993b5ec_2_14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6" name="Google Shape;196;g3f5d993b5ec_2_14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5d993b5ec_2_14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98" name="Google Shape;198;g3f5d993b5ec_2_14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9" name="Google Shape;199;g3f5d993b5ec_2_14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d993b5ec_2_16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g3f5d993b5ec_2_16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0" name="Google Shape;220;g3f5d993b5ec_2_16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f5d993b5ec_2_16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222" name="Google Shape;222;g3f5d993b5ec_2_16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3" name="Google Shape;223;g3f5d993b5ec_2_16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d993b5ec_2_19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5" name="Google Shape;245;g3f5d993b5ec_2_19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6" name="Google Shape;246;g3f5d993b5ec_2_19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f5d993b5ec_2_19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248" name="Google Shape;248;g3f5d993b5ec_2_19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9" name="Google Shape;249;g3f5d993b5ec_2_19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5d993b5ec_2_20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8" name="Google Shape;258;g3f5d993b5ec_2_20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9" name="Google Shape;259;g3f5d993b5ec_2_20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f5d993b5ec_2_20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261" name="Google Shape;261;g3f5d993b5ec_2_20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2" name="Google Shape;262;g3f5d993b5ec_2_20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5d993b5ec_2_2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1" name="Google Shape;271;g3f5d993b5ec_2_2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2" name="Google Shape;272;g3f5d993b5ec_2_2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5d993b5ec_2_2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274" name="Google Shape;274;g3f5d993b5ec_2_2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5" name="Google Shape;275;g3f5d993b5ec_2_2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d993b5ec_2_22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4" name="Google Shape;284;g3f5d993b5ec_2_22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5" name="Google Shape;285;g3f5d993b5ec_2_22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5d993b5ec_2_22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287" name="Google Shape;287;g3f5d993b5ec_2_22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8" name="Google Shape;288;g3f5d993b5ec_2_22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5d993b5ec_2_23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7" name="Google Shape;297;g3f5d993b5ec_2_23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8" name="Google Shape;298;g3f5d993b5ec_2_23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f5d993b5ec_2_23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300" name="Google Shape;300;g3f5d993b5ec_2_23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1" name="Google Shape;301;g3f5d993b5ec_2_23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d993b5ec_2_25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g3f5d993b5ec_2_25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7" name="Google Shape;317;g3f5d993b5ec_2_25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5d993b5ec_2_25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11</a:t>
            </a:r>
            <a:endParaRPr/>
          </a:p>
        </p:txBody>
      </p:sp>
      <p:sp>
        <p:nvSpPr>
          <p:cNvPr id="319" name="Google Shape;319;g3f5d993b5ec_2_25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0" name="Google Shape;320;g3f5d993b5ec_2_25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5d993b5ec_2_27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2" name="Google Shape;332;g3f5d993b5ec_2_27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3" name="Google Shape;333;g3f5d993b5ec_2_27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f5d993b5ec_2_27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</a:t>
            </a:r>
            <a:endParaRPr/>
          </a:p>
        </p:txBody>
      </p:sp>
      <p:sp>
        <p:nvSpPr>
          <p:cNvPr id="335" name="Google Shape;335;g3f5d993b5ec_2_27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6" name="Google Shape;336;g3f5d993b5ec_2_27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5d993b5ec_2_29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1" name="Google Shape;361;g3f5d993b5ec_2_29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2" name="Google Shape;362;g3f5d993b5ec_2_29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f5d993b5ec_2_29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13</a:t>
            </a:r>
            <a:endParaRPr/>
          </a:p>
        </p:txBody>
      </p:sp>
      <p:sp>
        <p:nvSpPr>
          <p:cNvPr id="364" name="Google Shape;364;g3f5d993b5ec_2_29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5" name="Google Shape;365;g3f5d993b5ec_2_29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5d993b5ec_2_3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6" name="Google Shape;376;g3f5d993b5ec_2_3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7" name="Google Shape;377;g3f5d993b5ec_2_3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f5d993b5ec_2_3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14</a:t>
            </a:r>
            <a:endParaRPr/>
          </a:p>
        </p:txBody>
      </p:sp>
      <p:sp>
        <p:nvSpPr>
          <p:cNvPr id="379" name="Google Shape;379;g3f5d993b5ec_2_3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0" name="Google Shape;380;g3f5d993b5ec_2_3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18.jp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14.jp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jpg"/><Relationship Id="rId4" Type="http://schemas.openxmlformats.org/officeDocument/2006/relationships/image" Target="../media/image6.png"/><Relationship Id="rId11" Type="http://schemas.openxmlformats.org/officeDocument/2006/relationships/image" Target="../media/image7.png"/><Relationship Id="rId10" Type="http://schemas.openxmlformats.org/officeDocument/2006/relationships/image" Target="../media/image8.png"/><Relationship Id="rId12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jpg"/><Relationship Id="rId4" Type="http://schemas.openxmlformats.org/officeDocument/2006/relationships/image" Target="../media/image17.jp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45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19.png"/><Relationship Id="rId5" Type="http://schemas.openxmlformats.org/officeDocument/2006/relationships/image" Target="../media/image23.jpg"/><Relationship Id="rId6" Type="http://schemas.openxmlformats.org/officeDocument/2006/relationships/image" Target="../media/image21.jpg"/><Relationship Id="rId7" Type="http://schemas.openxmlformats.org/officeDocument/2006/relationships/image" Target="../media/image2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3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3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jpg"/><Relationship Id="rId4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29.png"/><Relationship Id="rId5" Type="http://schemas.openxmlformats.org/officeDocument/2006/relationships/image" Target="../media/image46.jpg"/><Relationship Id="rId6" Type="http://schemas.openxmlformats.org/officeDocument/2006/relationships/image" Target="../media/image3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26.jpg"/><Relationship Id="rId5" Type="http://schemas.openxmlformats.org/officeDocument/2006/relationships/image" Target="../media/image40.jpg"/><Relationship Id="rId6" Type="http://schemas.openxmlformats.org/officeDocument/2006/relationships/image" Target="../media/image31.jpg"/><Relationship Id="rId7" Type="http://schemas.openxmlformats.org/officeDocument/2006/relationships/image" Target="../media/image3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jp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g"/><Relationship Id="rId4" Type="http://schemas.openxmlformats.org/officeDocument/2006/relationships/image" Target="../media/image47.jpg"/><Relationship Id="rId5" Type="http://schemas.openxmlformats.org/officeDocument/2006/relationships/image" Target="../media/image33.jpg"/><Relationship Id="rId6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33" name="Google Shape;133;p25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134" name="Google Shape;134;p25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65882"/>
            </a:srgbClr>
          </a:solidFill>
          <a:ln>
            <a:noFill/>
          </a:ln>
        </p:spPr>
      </p:sp>
      <p:sp>
        <p:nvSpPr>
          <p:cNvPr descr="preencoded.png" id="135" name="Google Shape;135;p25">
            <a:hlinkClick r:id="rId4"/>
          </p:cNvPr>
          <p:cNvSpPr/>
          <p:nvPr/>
        </p:nvSpPr>
        <p:spPr>
          <a:xfrm>
            <a:off x="8314154" y="4923092"/>
            <a:ext cx="804529" cy="192167"/>
          </a:xfrm>
          <a:custGeom>
            <a:rect b="b" l="l" r="r" t="t"/>
            <a:pathLst>
              <a:path extrusionOk="0" h="512445" w="2145411">
                <a:moveTo>
                  <a:pt x="0" y="0"/>
                </a:moveTo>
                <a:lnTo>
                  <a:pt x="2145411" y="0"/>
                </a:lnTo>
                <a:lnTo>
                  <a:pt x="2145411" y="512445"/>
                </a:lnTo>
                <a:lnTo>
                  <a:pt x="0" y="512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" l="0" r="2" t="0"/>
            </a:stretch>
          </a:blipFill>
          <a:ln>
            <a:noFill/>
          </a:ln>
        </p:spPr>
      </p:sp>
      <p:sp>
        <p:nvSpPr>
          <p:cNvPr descr="preencoded.png" id="136" name="Google Shape;136;p25"/>
          <p:cNvSpPr/>
          <p:nvPr/>
        </p:nvSpPr>
        <p:spPr>
          <a:xfrm>
            <a:off x="5719324" y="0"/>
            <a:ext cx="3431572" cy="5147500"/>
          </a:xfrm>
          <a:custGeom>
            <a:rect b="b" l="l" r="r" t="t"/>
            <a:pathLst>
              <a:path extrusionOk="0" h="13726668" w="9150858">
                <a:moveTo>
                  <a:pt x="0" y="0"/>
                </a:moveTo>
                <a:lnTo>
                  <a:pt x="9150858" y="0"/>
                </a:lnTo>
                <a:lnTo>
                  <a:pt x="9150858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137" name="Google Shape;137;p25"/>
          <p:cNvSpPr/>
          <p:nvPr/>
        </p:nvSpPr>
        <p:spPr>
          <a:xfrm>
            <a:off x="619073" y="576491"/>
            <a:ext cx="4481179" cy="1667352"/>
          </a:xfrm>
          <a:custGeom>
            <a:rect b="b" l="l" r="r" t="t"/>
            <a:pathLst>
              <a:path extrusionOk="0" h="4446270" w="11949811">
                <a:moveTo>
                  <a:pt x="0" y="0"/>
                </a:moveTo>
                <a:lnTo>
                  <a:pt x="11949811" y="0"/>
                </a:lnTo>
                <a:lnTo>
                  <a:pt x="11949811" y="4446270"/>
                </a:lnTo>
                <a:lnTo>
                  <a:pt x="0" y="4446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8" r="-18" t="0"/>
            </a:stretch>
          </a:blipFill>
          <a:ln>
            <a:noFill/>
          </a:ln>
        </p:spPr>
      </p:sp>
      <p:sp>
        <p:nvSpPr>
          <p:cNvPr id="138" name="Google Shape;138;p25"/>
          <p:cNvSpPr txBox="1"/>
          <p:nvPr/>
        </p:nvSpPr>
        <p:spPr>
          <a:xfrm>
            <a:off x="540282" y="2506599"/>
            <a:ext cx="4638761" cy="88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7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ApexPlanet Data Analytics Internship — Final Project</a:t>
            </a:r>
            <a:endParaRPr sz="700"/>
          </a:p>
        </p:txBody>
      </p:sp>
      <p:sp>
        <p:nvSpPr>
          <p:cNvPr id="139" name="Google Shape;139;p25"/>
          <p:cNvSpPr txBox="1"/>
          <p:nvPr/>
        </p:nvSpPr>
        <p:spPr>
          <a:xfrm>
            <a:off x="540282" y="3538804"/>
            <a:ext cx="4638761" cy="812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Presented by Srinivas</a:t>
            </a:r>
            <a:endParaRPr sz="700"/>
          </a:p>
          <a:p>
            <a:pPr indent="0" lvl="0" marL="0" marR="0" rtl="0" algn="l">
              <a:lnSpc>
                <a:spcPct val="152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Computer Science &amp; Engineering, Sreenidhi Institute of Science and Technology</a:t>
            </a:r>
            <a:endParaRPr sz="700"/>
          </a:p>
        </p:txBody>
      </p:sp>
      <p:sp>
        <p:nvSpPr>
          <p:cNvPr id="140" name="Google Shape;140;p25"/>
          <p:cNvSpPr/>
          <p:nvPr/>
        </p:nvSpPr>
        <p:spPr>
          <a:xfrm>
            <a:off x="540282" y="4491866"/>
            <a:ext cx="2307241" cy="211026"/>
          </a:xfrm>
          <a:custGeom>
            <a:rect b="b" l="l" r="r" t="t"/>
            <a:pathLst>
              <a:path extrusionOk="0" h="562737" w="6152642">
                <a:moveTo>
                  <a:pt x="0" y="124460"/>
                </a:moveTo>
                <a:cubicBezTo>
                  <a:pt x="0" y="55753"/>
                  <a:pt x="55753" y="0"/>
                  <a:pt x="124460" y="0"/>
                </a:cubicBezTo>
                <a:lnTo>
                  <a:pt x="6028182" y="0"/>
                </a:lnTo>
                <a:cubicBezTo>
                  <a:pt x="6096889" y="0"/>
                  <a:pt x="6152642" y="55753"/>
                  <a:pt x="6152642" y="124460"/>
                </a:cubicBezTo>
                <a:lnTo>
                  <a:pt x="6152642" y="438277"/>
                </a:lnTo>
                <a:cubicBezTo>
                  <a:pt x="6152642" y="506984"/>
                  <a:pt x="6096889" y="562737"/>
                  <a:pt x="6028182" y="562737"/>
                </a:cubicBezTo>
                <a:lnTo>
                  <a:pt x="124460" y="562737"/>
                </a:lnTo>
                <a:cubicBezTo>
                  <a:pt x="55753" y="562737"/>
                  <a:pt x="0" y="506984"/>
                  <a:pt x="0" y="438277"/>
                </a:cubicBezTo>
                <a:close/>
              </a:path>
            </a:pathLst>
          </a:custGeom>
          <a:solidFill>
            <a:srgbClr val="001D4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1" name="Google Shape;141;p25"/>
          <p:cNvSpPr/>
          <p:nvPr/>
        </p:nvSpPr>
        <p:spPr>
          <a:xfrm>
            <a:off x="623616" y="4541839"/>
            <a:ext cx="111109" cy="111109"/>
          </a:xfrm>
          <a:custGeom>
            <a:rect b="b" l="l" r="r" t="t"/>
            <a:pathLst>
              <a:path extrusionOk="0" h="296291" w="296291">
                <a:moveTo>
                  <a:pt x="0" y="0"/>
                </a:moveTo>
                <a:lnTo>
                  <a:pt x="296291" y="0"/>
                </a:lnTo>
                <a:lnTo>
                  <a:pt x="296291" y="296291"/>
                </a:lnTo>
                <a:lnTo>
                  <a:pt x="0" y="296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" l="-1" r="-3" t="0"/>
            </a:stretch>
          </a:blipFill>
          <a:ln>
            <a:noFill/>
          </a:ln>
        </p:spPr>
      </p:sp>
      <p:sp>
        <p:nvSpPr>
          <p:cNvPr id="142" name="Google Shape;142;p25"/>
          <p:cNvSpPr txBox="1"/>
          <p:nvPr/>
        </p:nvSpPr>
        <p:spPr>
          <a:xfrm>
            <a:off x="790279" y="4538258"/>
            <a:ext cx="2431457" cy="12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APEXPLANET SOFTWARE PVT. LTD.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51" name="Google Shape;151;p26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152" name="Google Shape;152;p26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63137"/>
            </a:srgbClr>
          </a:solidFill>
          <a:ln>
            <a:noFill/>
          </a:ln>
        </p:spPr>
      </p:sp>
      <p:sp>
        <p:nvSpPr>
          <p:cNvPr descr="preencoded.png" id="153" name="Google Shape;153;p26"/>
          <p:cNvSpPr/>
          <p:nvPr/>
        </p:nvSpPr>
        <p:spPr>
          <a:xfrm>
            <a:off x="0" y="0"/>
            <a:ext cx="3431572" cy="5147500"/>
          </a:xfrm>
          <a:custGeom>
            <a:rect b="b" l="l" r="r" t="t"/>
            <a:pathLst>
              <a:path extrusionOk="0" h="13726668" w="9150858">
                <a:moveTo>
                  <a:pt x="0" y="0"/>
                </a:moveTo>
                <a:lnTo>
                  <a:pt x="9150858" y="0"/>
                </a:lnTo>
                <a:lnTo>
                  <a:pt x="9150858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154" name="Google Shape;154;p26"/>
          <p:cNvSpPr txBox="1"/>
          <p:nvPr/>
        </p:nvSpPr>
        <p:spPr>
          <a:xfrm>
            <a:off x="3971877" y="512155"/>
            <a:ext cx="4638761" cy="1389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9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Data Analytics on Supermarket Sales</a:t>
            </a:r>
            <a:endParaRPr sz="700"/>
          </a:p>
        </p:txBody>
      </p:sp>
      <p:sp>
        <p:nvSpPr>
          <p:cNvPr id="155" name="Google Shape;155;p26"/>
          <p:cNvSpPr txBox="1"/>
          <p:nvPr/>
        </p:nvSpPr>
        <p:spPr>
          <a:xfrm>
            <a:off x="3971875" y="2083675"/>
            <a:ext cx="5096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 raw transactions into actionable business insights</a:t>
            </a:r>
            <a:endParaRPr sz="700"/>
          </a:p>
        </p:txBody>
      </p:sp>
      <p:sp>
        <p:nvSpPr>
          <p:cNvPr descr="preencoded.png" id="156" name="Google Shape;156;p26"/>
          <p:cNvSpPr/>
          <p:nvPr/>
        </p:nvSpPr>
        <p:spPr>
          <a:xfrm>
            <a:off x="3971878" y="2514257"/>
            <a:ext cx="146632" cy="146638"/>
          </a:xfrm>
          <a:custGeom>
            <a:rect b="b" l="l" r="r" t="t"/>
            <a:pathLst>
              <a:path extrusionOk="0"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615" r="-1615" t="0"/>
            </a:stretch>
          </a:blipFill>
          <a:ln>
            <a:noFill/>
          </a:ln>
        </p:spPr>
      </p:sp>
      <p:sp>
        <p:nvSpPr>
          <p:cNvPr id="157" name="Google Shape;157;p26"/>
          <p:cNvSpPr/>
          <p:nvPr/>
        </p:nvSpPr>
        <p:spPr>
          <a:xfrm>
            <a:off x="3971877" y="2726055"/>
            <a:ext cx="4638770" cy="19050"/>
          </a:xfrm>
          <a:custGeom>
            <a:rect b="b" l="l" r="r" t="t"/>
            <a:pathLst>
              <a:path extrusionOk="0" h="50800" w="12370054">
                <a:moveTo>
                  <a:pt x="0" y="0"/>
                </a:moveTo>
                <a:lnTo>
                  <a:pt x="12370054" y="0"/>
                </a:lnTo>
                <a:lnTo>
                  <a:pt x="1237005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609DFF"/>
          </a:solidFill>
          <a:ln>
            <a:noFill/>
          </a:ln>
        </p:spPr>
      </p:sp>
      <p:sp>
        <p:nvSpPr>
          <p:cNvPr id="158" name="Google Shape;158;p26"/>
          <p:cNvSpPr txBox="1"/>
          <p:nvPr/>
        </p:nvSpPr>
        <p:spPr>
          <a:xfrm>
            <a:off x="3971877" y="2832707"/>
            <a:ext cx="4638761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Scope</a:t>
            </a:r>
            <a:endParaRPr sz="700"/>
          </a:p>
        </p:txBody>
      </p:sp>
      <p:sp>
        <p:nvSpPr>
          <p:cNvPr id="159" name="Google Shape;159;p26"/>
          <p:cNvSpPr txBox="1"/>
          <p:nvPr/>
        </p:nvSpPr>
        <p:spPr>
          <a:xfrm>
            <a:off x="3971877" y="3112075"/>
            <a:ext cx="4638761" cy="26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cleaning → EDA → Modeling → Dashboarding → Reporting</a:t>
            </a:r>
            <a:endParaRPr sz="700"/>
          </a:p>
        </p:txBody>
      </p:sp>
      <p:sp>
        <p:nvSpPr>
          <p:cNvPr descr="preencoded.png" id="160" name="Google Shape;160;p26"/>
          <p:cNvSpPr/>
          <p:nvPr/>
        </p:nvSpPr>
        <p:spPr>
          <a:xfrm>
            <a:off x="3971878" y="3646461"/>
            <a:ext cx="146632" cy="146638"/>
          </a:xfrm>
          <a:custGeom>
            <a:rect b="b" l="l" r="r" t="t"/>
            <a:pathLst>
              <a:path extrusionOk="0"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615" r="-1615" t="0"/>
            </a:stretch>
          </a:blipFill>
          <a:ln>
            <a:noFill/>
          </a:ln>
        </p:spPr>
      </p:sp>
      <p:sp>
        <p:nvSpPr>
          <p:cNvPr id="161" name="Google Shape;161;p26"/>
          <p:cNvSpPr/>
          <p:nvPr/>
        </p:nvSpPr>
        <p:spPr>
          <a:xfrm>
            <a:off x="3971877" y="3858259"/>
            <a:ext cx="4638770" cy="19050"/>
          </a:xfrm>
          <a:custGeom>
            <a:rect b="b" l="l" r="r" t="t"/>
            <a:pathLst>
              <a:path extrusionOk="0" h="50800" w="12370054">
                <a:moveTo>
                  <a:pt x="0" y="0"/>
                </a:moveTo>
                <a:lnTo>
                  <a:pt x="12370054" y="0"/>
                </a:lnTo>
                <a:lnTo>
                  <a:pt x="1237005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609DFF"/>
          </a:solidFill>
          <a:ln>
            <a:noFill/>
          </a:ln>
        </p:spPr>
      </p:sp>
      <p:sp>
        <p:nvSpPr>
          <p:cNvPr id="162" name="Google Shape;162;p26"/>
          <p:cNvSpPr txBox="1"/>
          <p:nvPr/>
        </p:nvSpPr>
        <p:spPr>
          <a:xfrm>
            <a:off x="3971877" y="3964905"/>
            <a:ext cx="4638761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Duration</a:t>
            </a:r>
            <a:endParaRPr sz="700"/>
          </a:p>
        </p:txBody>
      </p:sp>
      <p:sp>
        <p:nvSpPr>
          <p:cNvPr id="163" name="Google Shape;163;p26"/>
          <p:cNvSpPr txBox="1"/>
          <p:nvPr/>
        </p:nvSpPr>
        <p:spPr>
          <a:xfrm>
            <a:off x="3971877" y="4244278"/>
            <a:ext cx="4638761" cy="26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Internship capstone project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72" name="Google Shape;172;p27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173" name="Google Shape;173;p27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81176"/>
            </a:srgbClr>
          </a:solidFill>
          <a:ln>
            <a:noFill/>
          </a:ln>
        </p:spPr>
      </p:sp>
      <p:sp>
        <p:nvSpPr>
          <p:cNvPr id="174" name="Google Shape;174;p27"/>
          <p:cNvSpPr txBox="1"/>
          <p:nvPr/>
        </p:nvSpPr>
        <p:spPr>
          <a:xfrm>
            <a:off x="540282" y="509250"/>
            <a:ext cx="8070357" cy="49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 &amp; Objectives</a:t>
            </a:r>
            <a:endParaRPr sz="700"/>
          </a:p>
        </p:txBody>
      </p:sp>
      <p:sp>
        <p:nvSpPr>
          <p:cNvPr descr="preencoded.png" id="175" name="Google Shape;175;p27"/>
          <p:cNvSpPr/>
          <p:nvPr/>
        </p:nvSpPr>
        <p:spPr>
          <a:xfrm>
            <a:off x="540282" y="1309969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0" y="0"/>
                </a:lnTo>
                <a:lnTo>
                  <a:pt x="771810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2924" l="0" r="0" t="-32924"/>
            </a:stretch>
          </a:blipFill>
          <a:ln>
            <a:noFill/>
          </a:ln>
        </p:spPr>
      </p:sp>
      <p:sp>
        <p:nvSpPr>
          <p:cNvPr id="176" name="Google Shape;176;p27"/>
          <p:cNvSpPr txBox="1"/>
          <p:nvPr/>
        </p:nvSpPr>
        <p:spPr>
          <a:xfrm>
            <a:off x="540282" y="1884078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cleaning</a:t>
            </a:r>
            <a:endParaRPr sz="700"/>
          </a:p>
        </p:txBody>
      </p:sp>
      <p:sp>
        <p:nvSpPr>
          <p:cNvPr descr="preencoded.png" id="177" name="Google Shape;177;p27"/>
          <p:cNvSpPr/>
          <p:nvPr/>
        </p:nvSpPr>
        <p:spPr>
          <a:xfrm>
            <a:off x="3294717" y="1309969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9758" r="-9756" t="0"/>
            </a:stretch>
          </a:blipFill>
          <a:ln>
            <a:noFill/>
          </a:ln>
        </p:spPr>
      </p:sp>
      <p:sp>
        <p:nvSpPr>
          <p:cNvPr id="178" name="Google Shape;178;p27"/>
          <p:cNvSpPr txBox="1"/>
          <p:nvPr/>
        </p:nvSpPr>
        <p:spPr>
          <a:xfrm>
            <a:off x="3294716" y="1884078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analysis</a:t>
            </a:r>
            <a:endParaRPr sz="700"/>
          </a:p>
        </p:txBody>
      </p:sp>
      <p:sp>
        <p:nvSpPr>
          <p:cNvPr descr="preencoded.png" id="179" name="Google Shape;179;p27"/>
          <p:cNvSpPr/>
          <p:nvPr/>
        </p:nvSpPr>
        <p:spPr>
          <a:xfrm>
            <a:off x="6049156" y="1309969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314" l="0" r="0" t="-7314"/>
            </a:stretch>
          </a:blipFill>
          <a:ln>
            <a:noFill/>
          </a:ln>
        </p:spPr>
      </p:sp>
      <p:sp>
        <p:nvSpPr>
          <p:cNvPr id="180" name="Google Shape;180;p27"/>
          <p:cNvSpPr txBox="1"/>
          <p:nvPr/>
        </p:nvSpPr>
        <p:spPr>
          <a:xfrm>
            <a:off x="6049156" y="1884078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 insights using SQL</a:t>
            </a:r>
            <a:endParaRPr sz="700"/>
          </a:p>
        </p:txBody>
      </p:sp>
      <p:sp>
        <p:nvSpPr>
          <p:cNvPr descr="preencoded.png" id="181" name="Google Shape;181;p27"/>
          <p:cNvSpPr/>
          <p:nvPr/>
        </p:nvSpPr>
        <p:spPr>
          <a:xfrm>
            <a:off x="540282" y="2438743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0" y="0"/>
                </a:lnTo>
                <a:lnTo>
                  <a:pt x="771810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4270" r="-4270" t="0"/>
            </a:stretch>
          </a:blipFill>
          <a:ln>
            <a:noFill/>
          </a:ln>
        </p:spPr>
      </p:sp>
      <p:sp>
        <p:nvSpPr>
          <p:cNvPr id="182" name="Google Shape;182;p27"/>
          <p:cNvSpPr txBox="1"/>
          <p:nvPr/>
        </p:nvSpPr>
        <p:spPr>
          <a:xfrm>
            <a:off x="540282" y="3012852"/>
            <a:ext cx="2561482" cy="487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Build interactive dashboards</a:t>
            </a:r>
            <a:endParaRPr sz="700"/>
          </a:p>
        </p:txBody>
      </p:sp>
      <p:sp>
        <p:nvSpPr>
          <p:cNvPr descr="preencoded.png" id="183" name="Google Shape;183;p27"/>
          <p:cNvSpPr/>
          <p:nvPr/>
        </p:nvSpPr>
        <p:spPr>
          <a:xfrm>
            <a:off x="3294717" y="2438743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8534" l="0" r="0" t="-8534"/>
            </a:stretch>
          </a:blipFill>
          <a:ln>
            <a:noFill/>
          </a:ln>
        </p:spPr>
      </p:sp>
      <p:sp>
        <p:nvSpPr>
          <p:cNvPr id="184" name="Google Shape;184;p27"/>
          <p:cNvSpPr txBox="1"/>
          <p:nvPr/>
        </p:nvSpPr>
        <p:spPr>
          <a:xfrm>
            <a:off x="3294716" y="3012853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Statistical analysis</a:t>
            </a:r>
            <a:endParaRPr sz="700"/>
          </a:p>
        </p:txBody>
      </p:sp>
      <p:sp>
        <p:nvSpPr>
          <p:cNvPr descr="preencoded.png" id="185" name="Google Shape;185;p27"/>
          <p:cNvSpPr/>
          <p:nvPr/>
        </p:nvSpPr>
        <p:spPr>
          <a:xfrm>
            <a:off x="6049156" y="2438743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1341" r="-21343" t="0"/>
            </a:stretch>
          </a:blipFill>
          <a:ln>
            <a:noFill/>
          </a:ln>
        </p:spPr>
      </p:sp>
      <p:sp>
        <p:nvSpPr>
          <p:cNvPr id="186" name="Google Shape;186;p27"/>
          <p:cNvSpPr txBox="1"/>
          <p:nvPr/>
        </p:nvSpPr>
        <p:spPr>
          <a:xfrm>
            <a:off x="6049156" y="3012853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Forecast sales</a:t>
            </a:r>
            <a:endParaRPr sz="700"/>
          </a:p>
        </p:txBody>
      </p:sp>
      <p:sp>
        <p:nvSpPr>
          <p:cNvPr descr="preencoded.png" id="187" name="Google Shape;187;p27"/>
          <p:cNvSpPr/>
          <p:nvPr/>
        </p:nvSpPr>
        <p:spPr>
          <a:xfrm>
            <a:off x="540282" y="3808657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0" y="0"/>
                </a:lnTo>
                <a:lnTo>
                  <a:pt x="771810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1828" l="0" r="0" t="-1827"/>
            </a:stretch>
          </a:blipFill>
          <a:ln>
            <a:noFill/>
          </a:ln>
        </p:spPr>
      </p:sp>
      <p:sp>
        <p:nvSpPr>
          <p:cNvPr id="188" name="Google Shape;188;p27"/>
          <p:cNvSpPr txBox="1"/>
          <p:nvPr/>
        </p:nvSpPr>
        <p:spPr>
          <a:xfrm>
            <a:off x="540282" y="4382772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Segment customers</a:t>
            </a:r>
            <a:endParaRPr sz="700"/>
          </a:p>
        </p:txBody>
      </p:sp>
      <p:sp>
        <p:nvSpPr>
          <p:cNvPr descr="preencoded.png" id="189" name="Google Shape;189;p27"/>
          <p:cNvSpPr/>
          <p:nvPr/>
        </p:nvSpPr>
        <p:spPr>
          <a:xfrm>
            <a:off x="3294717" y="3808657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4875" l="0" r="0" t="-4877"/>
            </a:stretch>
          </a:blipFill>
          <a:ln>
            <a:noFill/>
          </a:ln>
        </p:spPr>
      </p:sp>
      <p:sp>
        <p:nvSpPr>
          <p:cNvPr id="190" name="Google Shape;190;p27"/>
          <p:cNvSpPr txBox="1"/>
          <p:nvPr/>
        </p:nvSpPr>
        <p:spPr>
          <a:xfrm>
            <a:off x="3294716" y="4382772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Predictive models</a:t>
            </a:r>
            <a:endParaRPr sz="700"/>
          </a:p>
        </p:txBody>
      </p:sp>
      <p:sp>
        <p:nvSpPr>
          <p:cNvPr descr="preencoded.png" id="191" name="Google Shape;191;p27"/>
          <p:cNvSpPr/>
          <p:nvPr/>
        </p:nvSpPr>
        <p:spPr>
          <a:xfrm>
            <a:off x="6049156" y="3808657"/>
            <a:ext cx="385906" cy="385915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3657" l="0" r="0" t="-3656"/>
            </a:stretch>
          </a:blipFill>
          <a:ln>
            <a:noFill/>
          </a:ln>
        </p:spPr>
      </p:sp>
      <p:sp>
        <p:nvSpPr>
          <p:cNvPr id="192" name="Google Shape;192;p27"/>
          <p:cNvSpPr txBox="1"/>
          <p:nvPr/>
        </p:nvSpPr>
        <p:spPr>
          <a:xfrm>
            <a:off x="6049156" y="4382772"/>
            <a:ext cx="2561482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Executive reports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01" name="Google Shape;201;p28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02" name="Google Shape;202;p28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7255"/>
            </a:srgbClr>
          </a:solidFill>
          <a:ln>
            <a:noFill/>
          </a:ln>
        </p:spPr>
      </p:sp>
      <p:sp>
        <p:nvSpPr>
          <p:cNvPr id="203" name="Google Shape;203;p28"/>
          <p:cNvSpPr txBox="1"/>
          <p:nvPr/>
        </p:nvSpPr>
        <p:spPr>
          <a:xfrm>
            <a:off x="540282" y="503144"/>
            <a:ext cx="8070357" cy="419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6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Overview</a:t>
            </a:r>
            <a:endParaRPr sz="700"/>
          </a:p>
        </p:txBody>
      </p:sp>
      <p:sp>
        <p:nvSpPr>
          <p:cNvPr descr="preencoded.png" id="204" name="Google Shape;204;p28"/>
          <p:cNvSpPr/>
          <p:nvPr/>
        </p:nvSpPr>
        <p:spPr>
          <a:xfrm>
            <a:off x="540282" y="1224472"/>
            <a:ext cx="3293840" cy="3293888"/>
          </a:xfrm>
          <a:custGeom>
            <a:rect b="b" l="l" r="r" t="t"/>
            <a:pathLst>
              <a:path extrusionOk="0" h="8783701" w="8783574">
                <a:moveTo>
                  <a:pt x="0" y="0"/>
                </a:moveTo>
                <a:lnTo>
                  <a:pt x="8783574" y="0"/>
                </a:lnTo>
                <a:lnTo>
                  <a:pt x="8783574" y="8783701"/>
                </a:lnTo>
                <a:lnTo>
                  <a:pt x="0" y="8783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" r="0" t="0"/>
            </a:stretch>
          </a:blipFill>
          <a:ln>
            <a:noFill/>
          </a:ln>
        </p:spPr>
      </p:sp>
      <p:sp>
        <p:nvSpPr>
          <p:cNvPr descr="preencoded.png" id="205" name="Google Shape;205;p28"/>
          <p:cNvSpPr/>
          <p:nvPr/>
        </p:nvSpPr>
        <p:spPr>
          <a:xfrm>
            <a:off x="4740264" y="1749428"/>
            <a:ext cx="349282" cy="349282"/>
          </a:xfrm>
          <a:custGeom>
            <a:rect b="b" l="l" r="r" t="t"/>
            <a:pathLst>
              <a:path extrusionOk="0" h="931418" w="931418">
                <a:moveTo>
                  <a:pt x="0" y="0"/>
                </a:moveTo>
                <a:lnTo>
                  <a:pt x="931418" y="0"/>
                </a:lnTo>
                <a:lnTo>
                  <a:pt x="931418" y="931418"/>
                </a:lnTo>
                <a:lnTo>
                  <a:pt x="0" y="931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1" l="-1" r="2" t="0"/>
            </a:stretch>
          </a:blipFill>
          <a:ln>
            <a:noFill/>
          </a:ln>
        </p:spPr>
      </p:sp>
      <p:sp>
        <p:nvSpPr>
          <p:cNvPr id="206" name="Google Shape;206;p28"/>
          <p:cNvSpPr txBox="1"/>
          <p:nvPr/>
        </p:nvSpPr>
        <p:spPr>
          <a:xfrm>
            <a:off x="5228939" y="1744665"/>
            <a:ext cx="1379191" cy="209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1000 Records</a:t>
            </a:r>
            <a:endParaRPr sz="700"/>
          </a:p>
        </p:txBody>
      </p:sp>
      <p:sp>
        <p:nvSpPr>
          <p:cNvPr id="207" name="Google Shape;207;p28"/>
          <p:cNvSpPr txBox="1"/>
          <p:nvPr/>
        </p:nvSpPr>
        <p:spPr>
          <a:xfrm>
            <a:off x="5228939" y="2037360"/>
            <a:ext cx="1379191" cy="6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Sufficient for prototyping &amp; insights</a:t>
            </a:r>
            <a:endParaRPr sz="700"/>
          </a:p>
        </p:txBody>
      </p:sp>
      <p:sp>
        <p:nvSpPr>
          <p:cNvPr descr="preencoded.png" id="208" name="Google Shape;208;p28"/>
          <p:cNvSpPr/>
          <p:nvPr/>
        </p:nvSpPr>
        <p:spPr>
          <a:xfrm>
            <a:off x="6747538" y="1749428"/>
            <a:ext cx="349282" cy="349282"/>
          </a:xfrm>
          <a:custGeom>
            <a:rect b="b" l="l" r="r" t="t"/>
            <a:pathLst>
              <a:path extrusionOk="0" h="931418" w="931418">
                <a:moveTo>
                  <a:pt x="0" y="0"/>
                </a:moveTo>
                <a:lnTo>
                  <a:pt x="931418" y="0"/>
                </a:lnTo>
                <a:lnTo>
                  <a:pt x="931418" y="931418"/>
                </a:lnTo>
                <a:lnTo>
                  <a:pt x="0" y="931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1" l="-1" r="2" t="0"/>
            </a:stretch>
          </a:blipFill>
          <a:ln>
            <a:noFill/>
          </a:ln>
        </p:spPr>
      </p:sp>
      <p:sp>
        <p:nvSpPr>
          <p:cNvPr id="209" name="Google Shape;209;p28"/>
          <p:cNvSpPr txBox="1"/>
          <p:nvPr/>
        </p:nvSpPr>
        <p:spPr>
          <a:xfrm>
            <a:off x="7236214" y="1744665"/>
            <a:ext cx="1379191" cy="209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17 Features</a:t>
            </a:r>
            <a:endParaRPr sz="700"/>
          </a:p>
        </p:txBody>
      </p:sp>
      <p:sp>
        <p:nvSpPr>
          <p:cNvPr id="210" name="Google Shape;210;p28"/>
          <p:cNvSpPr txBox="1"/>
          <p:nvPr/>
        </p:nvSpPr>
        <p:spPr>
          <a:xfrm>
            <a:off x="7236214" y="2037360"/>
            <a:ext cx="1379191" cy="6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Demographics, transaction &amp; product fields</a:t>
            </a:r>
            <a:endParaRPr sz="700"/>
          </a:p>
        </p:txBody>
      </p:sp>
      <p:sp>
        <p:nvSpPr>
          <p:cNvPr descr="preencoded.png" id="211" name="Google Shape;211;p28"/>
          <p:cNvSpPr/>
          <p:nvPr/>
        </p:nvSpPr>
        <p:spPr>
          <a:xfrm>
            <a:off x="4740264" y="2871426"/>
            <a:ext cx="349282" cy="349282"/>
          </a:xfrm>
          <a:custGeom>
            <a:rect b="b" l="l" r="r" t="t"/>
            <a:pathLst>
              <a:path extrusionOk="0" h="931418" w="931418">
                <a:moveTo>
                  <a:pt x="0" y="0"/>
                </a:moveTo>
                <a:lnTo>
                  <a:pt x="931418" y="0"/>
                </a:lnTo>
                <a:lnTo>
                  <a:pt x="931418" y="931418"/>
                </a:lnTo>
                <a:lnTo>
                  <a:pt x="0" y="931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1" l="-1" r="2" t="0"/>
            </a:stretch>
          </a:blipFill>
          <a:ln>
            <a:noFill/>
          </a:ln>
        </p:spPr>
      </p:sp>
      <p:sp>
        <p:nvSpPr>
          <p:cNvPr id="212" name="Google Shape;212;p28"/>
          <p:cNvSpPr txBox="1"/>
          <p:nvPr/>
        </p:nvSpPr>
        <p:spPr>
          <a:xfrm>
            <a:off x="5228939" y="2866663"/>
            <a:ext cx="1379191" cy="209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Branches &amp; Cities</a:t>
            </a:r>
            <a:endParaRPr sz="700"/>
          </a:p>
        </p:txBody>
      </p:sp>
      <p:sp>
        <p:nvSpPr>
          <p:cNvPr id="213" name="Google Shape;213;p28"/>
          <p:cNvSpPr txBox="1"/>
          <p:nvPr/>
        </p:nvSpPr>
        <p:spPr>
          <a:xfrm>
            <a:off x="5228939" y="3159357"/>
            <a:ext cx="1379191" cy="416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Multi-branch analysis</a:t>
            </a:r>
            <a:endParaRPr sz="700"/>
          </a:p>
        </p:txBody>
      </p:sp>
      <p:sp>
        <p:nvSpPr>
          <p:cNvPr descr="preencoded.png" id="214" name="Google Shape;214;p28"/>
          <p:cNvSpPr/>
          <p:nvPr/>
        </p:nvSpPr>
        <p:spPr>
          <a:xfrm>
            <a:off x="6747538" y="2871426"/>
            <a:ext cx="349282" cy="349282"/>
          </a:xfrm>
          <a:custGeom>
            <a:rect b="b" l="l" r="r" t="t"/>
            <a:pathLst>
              <a:path extrusionOk="0" h="931418" w="931418">
                <a:moveTo>
                  <a:pt x="0" y="0"/>
                </a:moveTo>
                <a:lnTo>
                  <a:pt x="931418" y="0"/>
                </a:lnTo>
                <a:lnTo>
                  <a:pt x="931418" y="931418"/>
                </a:lnTo>
                <a:lnTo>
                  <a:pt x="0" y="931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1" l="-1" r="2" t="0"/>
            </a:stretch>
          </a:blipFill>
          <a:ln>
            <a:noFill/>
          </a:ln>
        </p:spPr>
      </p:sp>
      <p:sp>
        <p:nvSpPr>
          <p:cNvPr id="215" name="Google Shape;215;p28"/>
          <p:cNvSpPr txBox="1"/>
          <p:nvPr/>
        </p:nvSpPr>
        <p:spPr>
          <a:xfrm>
            <a:off x="7236214" y="2866663"/>
            <a:ext cx="1379191" cy="41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Lines &amp; Payment</a:t>
            </a:r>
            <a:endParaRPr sz="700"/>
          </a:p>
        </p:txBody>
      </p:sp>
      <p:sp>
        <p:nvSpPr>
          <p:cNvPr id="216" name="Google Shape;216;p28"/>
          <p:cNvSpPr txBox="1"/>
          <p:nvPr/>
        </p:nvSpPr>
        <p:spPr>
          <a:xfrm>
            <a:off x="7236214" y="3364382"/>
            <a:ext cx="1379191" cy="61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7 product lines, multiple payment types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25" name="Google Shape;225;p29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26" name="Google Shape;226;p29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5686"/>
            </a:srgbClr>
          </a:solidFill>
          <a:ln>
            <a:noFill/>
          </a:ln>
        </p:spPr>
      </p:sp>
      <p:sp>
        <p:nvSpPr>
          <p:cNvPr id="227" name="Google Shape;227;p29"/>
          <p:cNvSpPr txBox="1"/>
          <p:nvPr/>
        </p:nvSpPr>
        <p:spPr>
          <a:xfrm>
            <a:off x="540282" y="432097"/>
            <a:ext cx="8070357" cy="47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9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Data Cleaning &amp; Exploratory Analysis</a:t>
            </a:r>
            <a:endParaRPr sz="700"/>
          </a:p>
        </p:txBody>
      </p:sp>
      <p:sp>
        <p:nvSpPr>
          <p:cNvPr descr="preencoded.png" id="228" name="Google Shape;228;p29"/>
          <p:cNvSpPr/>
          <p:nvPr/>
        </p:nvSpPr>
        <p:spPr>
          <a:xfrm>
            <a:off x="540282" y="1183362"/>
            <a:ext cx="2597229" cy="1101519"/>
          </a:xfrm>
          <a:custGeom>
            <a:rect b="b" l="l" r="r" t="t"/>
            <a:pathLst>
              <a:path extrusionOk="0" h="2203037" w="5194459">
                <a:moveTo>
                  <a:pt x="0" y="0"/>
                </a:moveTo>
                <a:lnTo>
                  <a:pt x="5194458" y="0"/>
                </a:lnTo>
                <a:lnTo>
                  <a:pt x="5194458" y="2203038"/>
                </a:lnTo>
                <a:lnTo>
                  <a:pt x="0" y="2203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0" l="0" r="0" t="-309"/>
            </a:stretch>
          </a:blipFill>
          <a:ln>
            <a:noFill/>
          </a:ln>
        </p:spPr>
      </p:sp>
      <p:sp>
        <p:nvSpPr>
          <p:cNvPr id="229" name="Google Shape;229;p29"/>
          <p:cNvSpPr txBox="1"/>
          <p:nvPr/>
        </p:nvSpPr>
        <p:spPr>
          <a:xfrm>
            <a:off x="782236" y="1344302"/>
            <a:ext cx="2189579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Before</a:t>
            </a:r>
            <a:endParaRPr sz="700"/>
          </a:p>
        </p:txBody>
      </p:sp>
      <p:sp>
        <p:nvSpPr>
          <p:cNvPr id="230" name="Google Shape;230;p29"/>
          <p:cNvSpPr txBox="1"/>
          <p:nvPr/>
        </p:nvSpPr>
        <p:spPr>
          <a:xfrm>
            <a:off x="782236" y="1623675"/>
            <a:ext cx="2189579" cy="495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Missing values • Duplicates • Type mismatches</a:t>
            </a:r>
            <a:endParaRPr sz="700"/>
          </a:p>
        </p:txBody>
      </p:sp>
      <p:sp>
        <p:nvSpPr>
          <p:cNvPr descr="preencoded.png" id="231" name="Google Shape;231;p29"/>
          <p:cNvSpPr/>
          <p:nvPr/>
        </p:nvSpPr>
        <p:spPr>
          <a:xfrm>
            <a:off x="3276771" y="1183362"/>
            <a:ext cx="2597306" cy="1101519"/>
          </a:xfrm>
          <a:custGeom>
            <a:rect b="b" l="l" r="r" t="t"/>
            <a:pathLst>
              <a:path extrusionOk="0" h="2203037" w="5194611">
                <a:moveTo>
                  <a:pt x="0" y="0"/>
                </a:moveTo>
                <a:lnTo>
                  <a:pt x="5194611" y="0"/>
                </a:lnTo>
                <a:lnTo>
                  <a:pt x="5194611" y="2203038"/>
                </a:lnTo>
                <a:lnTo>
                  <a:pt x="0" y="2203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0" l="0" r="0" t="-311"/>
            </a:stretch>
          </a:blipFill>
          <a:ln>
            <a:noFill/>
          </a:ln>
        </p:spPr>
      </p:sp>
      <p:sp>
        <p:nvSpPr>
          <p:cNvPr id="232" name="Google Shape;232;p29"/>
          <p:cNvSpPr txBox="1"/>
          <p:nvPr/>
        </p:nvSpPr>
        <p:spPr>
          <a:xfrm>
            <a:off x="3518725" y="1344302"/>
            <a:ext cx="2189655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After</a:t>
            </a:r>
            <a:endParaRPr sz="700"/>
          </a:p>
        </p:txBody>
      </p:sp>
      <p:sp>
        <p:nvSpPr>
          <p:cNvPr id="233" name="Google Shape;233;p29"/>
          <p:cNvSpPr txBox="1"/>
          <p:nvPr/>
        </p:nvSpPr>
        <p:spPr>
          <a:xfrm>
            <a:off x="3518725" y="1623675"/>
            <a:ext cx="2189655" cy="495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Cleaned rows • Consistent types • Summary stats</a:t>
            </a:r>
            <a:endParaRPr sz="700"/>
          </a:p>
        </p:txBody>
      </p:sp>
      <p:sp>
        <p:nvSpPr>
          <p:cNvPr descr="preencoded.png" id="234" name="Google Shape;234;p29"/>
          <p:cNvSpPr/>
          <p:nvPr/>
        </p:nvSpPr>
        <p:spPr>
          <a:xfrm>
            <a:off x="6013332" y="1183362"/>
            <a:ext cx="2597230" cy="1101519"/>
          </a:xfrm>
          <a:custGeom>
            <a:rect b="b" l="l" r="r" t="t"/>
            <a:pathLst>
              <a:path extrusionOk="0" h="2203037" w="5194459">
                <a:moveTo>
                  <a:pt x="0" y="0"/>
                </a:moveTo>
                <a:lnTo>
                  <a:pt x="5194459" y="0"/>
                </a:lnTo>
                <a:lnTo>
                  <a:pt x="5194459" y="2203038"/>
                </a:lnTo>
                <a:lnTo>
                  <a:pt x="0" y="2203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0" l="0" r="0" t="-309"/>
            </a:stretch>
          </a:blipFill>
          <a:ln>
            <a:noFill/>
          </a:ln>
        </p:spPr>
      </p:sp>
      <p:sp>
        <p:nvSpPr>
          <p:cNvPr id="235" name="Google Shape;235;p29"/>
          <p:cNvSpPr txBox="1"/>
          <p:nvPr/>
        </p:nvSpPr>
        <p:spPr>
          <a:xfrm>
            <a:off x="6255286" y="1344302"/>
            <a:ext cx="2189578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</a:t>
            </a:r>
            <a:endParaRPr sz="700"/>
          </a:p>
        </p:txBody>
      </p:sp>
      <p:sp>
        <p:nvSpPr>
          <p:cNvPr id="236" name="Google Shape;236;p29"/>
          <p:cNvSpPr txBox="1"/>
          <p:nvPr/>
        </p:nvSpPr>
        <p:spPr>
          <a:xfrm>
            <a:off x="6255286" y="1623675"/>
            <a:ext cx="2189578" cy="495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Correlation, product-line trends, sales distribution</a:t>
            </a:r>
            <a:endParaRPr sz="700"/>
          </a:p>
        </p:txBody>
      </p:sp>
      <p:sp>
        <p:nvSpPr>
          <p:cNvPr descr="preencoded.png" id="237" name="Google Shape;237;p29"/>
          <p:cNvSpPr/>
          <p:nvPr/>
        </p:nvSpPr>
        <p:spPr>
          <a:xfrm>
            <a:off x="540275" y="2571750"/>
            <a:ext cx="2425026" cy="1613284"/>
          </a:xfrm>
          <a:custGeom>
            <a:rect b="b" l="l" r="r" t="t"/>
            <a:pathLst>
              <a:path extrusionOk="0" h="4245483" w="6139307">
                <a:moveTo>
                  <a:pt x="0" y="0"/>
                </a:moveTo>
                <a:lnTo>
                  <a:pt x="6139307" y="0"/>
                </a:lnTo>
                <a:lnTo>
                  <a:pt x="6139307" y="4245483"/>
                </a:lnTo>
                <a:lnTo>
                  <a:pt x="0" y="4245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5" l="0" r="0" t="-44"/>
            </a:stretch>
          </a:blipFill>
          <a:ln>
            <a:noFill/>
          </a:ln>
        </p:spPr>
      </p:sp>
      <p:sp>
        <p:nvSpPr>
          <p:cNvPr id="238" name="Google Shape;238;p29"/>
          <p:cNvSpPr txBox="1"/>
          <p:nvPr/>
        </p:nvSpPr>
        <p:spPr>
          <a:xfrm>
            <a:off x="311511" y="4308920"/>
            <a:ext cx="2881037" cy="26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Sales Distribution</a:t>
            </a:r>
            <a:endParaRPr sz="700"/>
          </a:p>
        </p:txBody>
      </p:sp>
      <p:sp>
        <p:nvSpPr>
          <p:cNvPr descr="preencoded.png" id="239" name="Google Shape;239;p29"/>
          <p:cNvSpPr/>
          <p:nvPr/>
        </p:nvSpPr>
        <p:spPr>
          <a:xfrm>
            <a:off x="3407125" y="2530250"/>
            <a:ext cx="2425314" cy="1617352"/>
          </a:xfrm>
          <a:custGeom>
            <a:rect b="b" l="l" r="r" t="t"/>
            <a:pathLst>
              <a:path extrusionOk="0" h="4120642" w="6510909">
                <a:moveTo>
                  <a:pt x="0" y="0"/>
                </a:moveTo>
                <a:lnTo>
                  <a:pt x="6510909" y="0"/>
                </a:lnTo>
                <a:lnTo>
                  <a:pt x="6510909" y="4120642"/>
                </a:lnTo>
                <a:lnTo>
                  <a:pt x="0" y="41206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0" l="0" r="0" t="-51"/>
            </a:stretch>
          </a:blipFill>
          <a:ln>
            <a:noFill/>
          </a:ln>
        </p:spPr>
      </p:sp>
      <p:sp>
        <p:nvSpPr>
          <p:cNvPr id="240" name="Google Shape;240;p29"/>
          <p:cNvSpPr txBox="1"/>
          <p:nvPr/>
        </p:nvSpPr>
        <p:spPr>
          <a:xfrm>
            <a:off x="3097521" y="4262076"/>
            <a:ext cx="3027669" cy="26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Correlation Heatmap</a:t>
            </a:r>
            <a:endParaRPr sz="700"/>
          </a:p>
        </p:txBody>
      </p:sp>
      <p:sp>
        <p:nvSpPr>
          <p:cNvPr descr="preencoded.png" id="241" name="Google Shape;241;p29"/>
          <p:cNvSpPr/>
          <p:nvPr/>
        </p:nvSpPr>
        <p:spPr>
          <a:xfrm>
            <a:off x="6255275" y="2530250"/>
            <a:ext cx="2302808" cy="1648804"/>
          </a:xfrm>
          <a:custGeom>
            <a:rect b="b" l="l" r="r" t="t"/>
            <a:pathLst>
              <a:path extrusionOk="0" h="4227703" w="5981319">
                <a:moveTo>
                  <a:pt x="0" y="0"/>
                </a:moveTo>
                <a:lnTo>
                  <a:pt x="5981319" y="0"/>
                </a:lnTo>
                <a:lnTo>
                  <a:pt x="5981319" y="4227703"/>
                </a:lnTo>
                <a:lnTo>
                  <a:pt x="0" y="422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2" l="0" r="0" t="-13"/>
            </a:stretch>
          </a:blipFill>
          <a:ln>
            <a:noFill/>
          </a:ln>
        </p:spPr>
      </p:sp>
      <p:sp>
        <p:nvSpPr>
          <p:cNvPr id="242" name="Google Shape;242;p29"/>
          <p:cNvSpPr txBox="1"/>
          <p:nvPr/>
        </p:nvSpPr>
        <p:spPr>
          <a:xfrm>
            <a:off x="6030163" y="4302219"/>
            <a:ext cx="2818628" cy="26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Line Analysis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51" name="Google Shape;251;p30"/>
          <p:cNvSpPr/>
          <p:nvPr/>
        </p:nvSpPr>
        <p:spPr>
          <a:xfrm>
            <a:off x="0" y="0"/>
            <a:ext cx="9150905" cy="51475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52" name="Google Shape;252;p30"/>
          <p:cNvSpPr/>
          <p:nvPr/>
        </p:nvSpPr>
        <p:spPr>
          <a:xfrm>
            <a:off x="0" y="0"/>
            <a:ext cx="9150905" cy="51475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0196"/>
            </a:srgbClr>
          </a:solidFill>
          <a:ln>
            <a:noFill/>
          </a:ln>
        </p:spPr>
      </p:sp>
      <p:sp>
        <p:nvSpPr>
          <p:cNvPr id="253" name="Google Shape;253;p30"/>
          <p:cNvSpPr txBox="1"/>
          <p:nvPr/>
        </p:nvSpPr>
        <p:spPr>
          <a:xfrm>
            <a:off x="514350" y="1354375"/>
            <a:ext cx="8070357" cy="49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Component: KPI Cards</a:t>
            </a:r>
            <a:endParaRPr sz="700"/>
          </a:p>
        </p:txBody>
      </p:sp>
      <p:sp>
        <p:nvSpPr>
          <p:cNvPr id="254" name="Google Shape;254;p30"/>
          <p:cNvSpPr txBox="1"/>
          <p:nvPr/>
        </p:nvSpPr>
        <p:spPr>
          <a:xfrm>
            <a:off x="514350" y="2160895"/>
            <a:ext cx="8527899" cy="29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components</a:t>
            </a:r>
            <a:endParaRPr sz="700"/>
          </a:p>
        </p:txBody>
      </p:sp>
      <p:sp>
        <p:nvSpPr>
          <p:cNvPr descr="preencoded.png" id="255" name="Google Shape;255;p30"/>
          <p:cNvSpPr/>
          <p:nvPr/>
        </p:nvSpPr>
        <p:spPr>
          <a:xfrm>
            <a:off x="304132" y="2817657"/>
            <a:ext cx="8592021" cy="799365"/>
          </a:xfrm>
          <a:custGeom>
            <a:rect b="b" l="l" r="r" t="t"/>
            <a:pathLst>
              <a:path extrusionOk="0" h="2002214" w="21520913">
                <a:moveTo>
                  <a:pt x="0" y="0"/>
                </a:moveTo>
                <a:lnTo>
                  <a:pt x="21520913" y="0"/>
                </a:lnTo>
                <a:lnTo>
                  <a:pt x="21520913" y="2002214"/>
                </a:lnTo>
                <a:lnTo>
                  <a:pt x="0" y="2002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842" r="-1842" t="-1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64" name="Google Shape;264;p31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65" name="Google Shape;265;p31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80000"/>
            </a:srgbClr>
          </a:solidFill>
          <a:ln>
            <a:noFill/>
          </a:ln>
        </p:spPr>
      </p:sp>
      <p:sp>
        <p:nvSpPr>
          <p:cNvPr id="266" name="Google Shape;266;p31"/>
          <p:cNvSpPr txBox="1"/>
          <p:nvPr/>
        </p:nvSpPr>
        <p:spPr>
          <a:xfrm>
            <a:off x="540282" y="659316"/>
            <a:ext cx="8070357" cy="465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Component: Product Line Analysis</a:t>
            </a:r>
            <a:endParaRPr sz="700"/>
          </a:p>
        </p:txBody>
      </p:sp>
      <p:sp>
        <p:nvSpPr>
          <p:cNvPr descr="preencoded.png" id="267" name="Google Shape;267;p31"/>
          <p:cNvSpPr/>
          <p:nvPr/>
        </p:nvSpPr>
        <p:spPr>
          <a:xfrm>
            <a:off x="540282" y="1479095"/>
            <a:ext cx="4397978" cy="2467546"/>
          </a:xfrm>
          <a:custGeom>
            <a:rect b="b" l="l" r="r" t="t"/>
            <a:pathLst>
              <a:path extrusionOk="0" h="6580124" w="11727942">
                <a:moveTo>
                  <a:pt x="0" y="0"/>
                </a:moveTo>
                <a:lnTo>
                  <a:pt x="11727942" y="0"/>
                </a:lnTo>
                <a:lnTo>
                  <a:pt x="11727942" y="6580124"/>
                </a:lnTo>
                <a:lnTo>
                  <a:pt x="0" y="6580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" l="0" r="0" t="-13"/>
            </a:stretch>
          </a:blipFill>
          <a:ln>
            <a:noFill/>
          </a:ln>
        </p:spPr>
      </p:sp>
      <p:sp>
        <p:nvSpPr>
          <p:cNvPr id="268" name="Google Shape;268;p31"/>
          <p:cNvSpPr txBox="1"/>
          <p:nvPr/>
        </p:nvSpPr>
        <p:spPr>
          <a:xfrm>
            <a:off x="5598610" y="1415372"/>
            <a:ext cx="3016796" cy="1942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 bar chart showing sales performance across different product lines with color-coded segments and trend indicators.</a:t>
            </a:r>
            <a:endParaRPr sz="700"/>
          </a:p>
          <a:p>
            <a:pPr indent="0" lvl="0" marL="0" marR="0" rtl="0" algn="l">
              <a:lnSpc>
                <a:spcPct val="154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This chart clearly visualizes the sales performance of each product line, allowing for quick identification of top performers and areas needing attention within the supermarket.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77" name="Google Shape;277;p32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78" name="Google Shape;278;p32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66667"/>
            </a:srgbClr>
          </a:solidFill>
          <a:ln>
            <a:noFill/>
          </a:ln>
        </p:spPr>
      </p:sp>
      <p:sp>
        <p:nvSpPr>
          <p:cNvPr id="279" name="Google Shape;279;p32"/>
          <p:cNvSpPr txBox="1"/>
          <p:nvPr/>
        </p:nvSpPr>
        <p:spPr>
          <a:xfrm>
            <a:off x="540282" y="437979"/>
            <a:ext cx="8070357" cy="491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Component: Sales by Branch</a:t>
            </a:r>
            <a:endParaRPr sz="700"/>
          </a:p>
        </p:txBody>
      </p:sp>
      <p:sp>
        <p:nvSpPr>
          <p:cNvPr descr="preencoded.png" id="280" name="Google Shape;280;p32"/>
          <p:cNvSpPr/>
          <p:nvPr/>
        </p:nvSpPr>
        <p:spPr>
          <a:xfrm>
            <a:off x="540282" y="1755757"/>
            <a:ext cx="4944904" cy="2770537"/>
          </a:xfrm>
          <a:custGeom>
            <a:rect b="b" l="l" r="r" t="t"/>
            <a:pathLst>
              <a:path extrusionOk="0" h="7388098" w="13186411">
                <a:moveTo>
                  <a:pt x="0" y="0"/>
                </a:moveTo>
                <a:lnTo>
                  <a:pt x="13186411" y="0"/>
                </a:lnTo>
                <a:lnTo>
                  <a:pt x="13186411" y="7388098"/>
                </a:lnTo>
                <a:lnTo>
                  <a:pt x="0" y="7388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6" l="0" r="0" t="-37"/>
            </a:stretch>
          </a:blipFill>
          <a:ln>
            <a:noFill/>
          </a:ln>
        </p:spPr>
      </p:sp>
      <p:sp>
        <p:nvSpPr>
          <p:cNvPr id="281" name="Google Shape;281;p32"/>
          <p:cNvSpPr txBox="1"/>
          <p:nvPr/>
        </p:nvSpPr>
        <p:spPr>
          <a:xfrm>
            <a:off x="5866629" y="1673352"/>
            <a:ext cx="2748701" cy="103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Geographic analysis showing sales distribution across different branches with interactive map filters and regional performance metrics.</a:t>
            </a:r>
            <a:endParaRPr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90" name="Google Shape;290;p33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91" name="Google Shape;291;p33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61961"/>
            </a:srgbClr>
          </a:solidFill>
          <a:ln>
            <a:noFill/>
          </a:ln>
        </p:spPr>
      </p:sp>
      <p:sp>
        <p:nvSpPr>
          <p:cNvPr id="292" name="Google Shape;292;p33"/>
          <p:cNvSpPr txBox="1"/>
          <p:nvPr/>
        </p:nvSpPr>
        <p:spPr>
          <a:xfrm>
            <a:off x="540282" y="505382"/>
            <a:ext cx="8070357" cy="684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7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2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Filters &amp; Slicers</a:t>
            </a:r>
            <a:endParaRPr sz="700"/>
          </a:p>
        </p:txBody>
      </p:sp>
      <p:sp>
        <p:nvSpPr>
          <p:cNvPr descr="preencoded.png" id="293" name="Google Shape;293;p33"/>
          <p:cNvSpPr/>
          <p:nvPr/>
        </p:nvSpPr>
        <p:spPr>
          <a:xfrm>
            <a:off x="937732" y="1421749"/>
            <a:ext cx="7275481" cy="2113169"/>
          </a:xfrm>
          <a:custGeom>
            <a:rect b="b" l="l" r="r" t="t"/>
            <a:pathLst>
              <a:path extrusionOk="0" h="5635117" w="19401282">
                <a:moveTo>
                  <a:pt x="0" y="0"/>
                </a:moveTo>
                <a:lnTo>
                  <a:pt x="19401282" y="0"/>
                </a:lnTo>
                <a:lnTo>
                  <a:pt x="19401282" y="5635117"/>
                </a:lnTo>
                <a:lnTo>
                  <a:pt x="0" y="5635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3" l="0" r="0" t="-54"/>
            </a:stretch>
          </a:blipFill>
          <a:ln>
            <a:noFill/>
          </a:ln>
        </p:spPr>
      </p:sp>
      <p:sp>
        <p:nvSpPr>
          <p:cNvPr id="294" name="Google Shape;294;p33"/>
          <p:cNvSpPr txBox="1"/>
          <p:nvPr/>
        </p:nvSpPr>
        <p:spPr>
          <a:xfrm>
            <a:off x="540282" y="3660943"/>
            <a:ext cx="8070357" cy="96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2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Interactive filter controls for date ranges, product categories, branches, and customer segments to enable dynamic dashboard exploration.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03" name="Google Shape;303;p34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304" name="Google Shape;304;p34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6471"/>
            </a:srgbClr>
          </a:solidFill>
          <a:ln>
            <a:noFill/>
          </a:ln>
        </p:spPr>
      </p:sp>
      <p:sp>
        <p:nvSpPr>
          <p:cNvPr id="305" name="Google Shape;305;p34"/>
          <p:cNvSpPr txBox="1"/>
          <p:nvPr/>
        </p:nvSpPr>
        <p:spPr>
          <a:xfrm>
            <a:off x="540282" y="429411"/>
            <a:ext cx="8070357" cy="390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Analytics &amp; Machine Learning</a:t>
            </a:r>
            <a:endParaRPr sz="700"/>
          </a:p>
        </p:txBody>
      </p:sp>
      <p:sp>
        <p:nvSpPr>
          <p:cNvPr descr="preencoded.png" id="306" name="Google Shape;306;p34"/>
          <p:cNvSpPr/>
          <p:nvPr/>
        </p:nvSpPr>
        <p:spPr>
          <a:xfrm>
            <a:off x="2592675" y="1017675"/>
            <a:ext cx="3965496" cy="1687223"/>
          </a:xfrm>
          <a:custGeom>
            <a:rect b="b" l="l" r="r" t="t"/>
            <a:pathLst>
              <a:path extrusionOk="0" h="4560062" w="10574655">
                <a:moveTo>
                  <a:pt x="0" y="0"/>
                </a:moveTo>
                <a:lnTo>
                  <a:pt x="10574655" y="0"/>
                </a:lnTo>
                <a:lnTo>
                  <a:pt x="10574655" y="4560062"/>
                </a:lnTo>
                <a:lnTo>
                  <a:pt x="0" y="4560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9" r="-29" t="0"/>
            </a:stretch>
          </a:blipFill>
          <a:ln>
            <a:noFill/>
          </a:ln>
        </p:spPr>
      </p:sp>
      <p:sp>
        <p:nvSpPr>
          <p:cNvPr id="307" name="Google Shape;307;p34"/>
          <p:cNvSpPr txBox="1"/>
          <p:nvPr/>
        </p:nvSpPr>
        <p:spPr>
          <a:xfrm>
            <a:off x="2859538" y="2403410"/>
            <a:ext cx="899622" cy="112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Model Training</a:t>
            </a:r>
            <a:endParaRPr sz="700"/>
          </a:p>
        </p:txBody>
      </p:sp>
      <p:sp>
        <p:nvSpPr>
          <p:cNvPr id="308" name="Google Shape;308;p34"/>
          <p:cNvSpPr txBox="1"/>
          <p:nvPr/>
        </p:nvSpPr>
        <p:spPr>
          <a:xfrm>
            <a:off x="2859539" y="2007565"/>
            <a:ext cx="1053498" cy="112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Segmentation</a:t>
            </a:r>
            <a:endParaRPr sz="700"/>
          </a:p>
        </p:txBody>
      </p:sp>
      <p:sp>
        <p:nvSpPr>
          <p:cNvPr id="309" name="Google Shape;309;p34"/>
          <p:cNvSpPr txBox="1"/>
          <p:nvPr/>
        </p:nvSpPr>
        <p:spPr>
          <a:xfrm>
            <a:off x="2859538" y="1615716"/>
            <a:ext cx="1039940" cy="112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Time Series Forecasting</a:t>
            </a:r>
            <a:endParaRPr sz="700"/>
          </a:p>
        </p:txBody>
      </p:sp>
      <p:sp>
        <p:nvSpPr>
          <p:cNvPr id="310" name="Google Shape;310;p34"/>
          <p:cNvSpPr txBox="1"/>
          <p:nvPr/>
        </p:nvSpPr>
        <p:spPr>
          <a:xfrm>
            <a:off x="2859538" y="1219872"/>
            <a:ext cx="899622" cy="112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Statistical Analysis</a:t>
            </a:r>
            <a:endParaRPr sz="700"/>
          </a:p>
        </p:txBody>
      </p:sp>
      <p:sp>
        <p:nvSpPr>
          <p:cNvPr descr="preencoded.png" id="311" name="Google Shape;311;p34"/>
          <p:cNvSpPr/>
          <p:nvPr/>
        </p:nvSpPr>
        <p:spPr>
          <a:xfrm>
            <a:off x="920375" y="2898575"/>
            <a:ext cx="3040571" cy="1508681"/>
          </a:xfrm>
          <a:custGeom>
            <a:rect b="b" l="l" r="r" t="t"/>
            <a:pathLst>
              <a:path extrusionOk="0" h="3635375" w="8108188">
                <a:moveTo>
                  <a:pt x="0" y="0"/>
                </a:moveTo>
                <a:lnTo>
                  <a:pt x="8108188" y="0"/>
                </a:lnTo>
                <a:lnTo>
                  <a:pt x="8108188" y="3635375"/>
                </a:lnTo>
                <a:lnTo>
                  <a:pt x="0" y="36353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5" l="0" r="0" t="-164"/>
            </a:stretch>
          </a:blipFill>
          <a:ln>
            <a:noFill/>
          </a:ln>
        </p:spPr>
      </p:sp>
      <p:sp>
        <p:nvSpPr>
          <p:cNvPr descr="preencoded.png" id="312" name="Google Shape;312;p34"/>
          <p:cNvSpPr/>
          <p:nvPr/>
        </p:nvSpPr>
        <p:spPr>
          <a:xfrm>
            <a:off x="5175775" y="2898225"/>
            <a:ext cx="2910888" cy="1506617"/>
          </a:xfrm>
          <a:custGeom>
            <a:rect b="b" l="l" r="r" t="t"/>
            <a:pathLst>
              <a:path extrusionOk="0" h="3524250" w="7762367">
                <a:moveTo>
                  <a:pt x="0" y="0"/>
                </a:moveTo>
                <a:lnTo>
                  <a:pt x="7762367" y="0"/>
                </a:lnTo>
                <a:lnTo>
                  <a:pt x="7762367" y="3524250"/>
                </a:lnTo>
                <a:lnTo>
                  <a:pt x="0" y="3524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07" l="0" r="0" t="-107"/>
            </a:stretch>
          </a:blipFill>
          <a:ln>
            <a:noFill/>
          </a:ln>
        </p:spPr>
      </p:sp>
      <p:sp>
        <p:nvSpPr>
          <p:cNvPr id="313" name="Google Shape;313;p34"/>
          <p:cNvSpPr txBox="1"/>
          <p:nvPr/>
        </p:nvSpPr>
        <p:spPr>
          <a:xfrm>
            <a:off x="311511" y="4511621"/>
            <a:ext cx="8527899" cy="201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Monthly Sales Trend &amp; Arima Forecast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22" name="Google Shape;322;p35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323" name="Google Shape;323;p35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2157"/>
            </a:srgbClr>
          </a:solidFill>
          <a:ln>
            <a:noFill/>
          </a:ln>
        </p:spPr>
      </p:sp>
      <p:sp>
        <p:nvSpPr>
          <p:cNvPr id="324" name="Google Shape;324;p35"/>
          <p:cNvSpPr txBox="1"/>
          <p:nvPr/>
        </p:nvSpPr>
        <p:spPr>
          <a:xfrm>
            <a:off x="311511" y="493533"/>
            <a:ext cx="8527899" cy="125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4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Segmentation &amp; Decision Tree Feature Importance</a:t>
            </a:r>
            <a:endParaRPr sz="700"/>
          </a:p>
        </p:txBody>
      </p:sp>
      <p:sp>
        <p:nvSpPr>
          <p:cNvPr descr="preencoded.png" id="325" name="Google Shape;325;p35"/>
          <p:cNvSpPr/>
          <p:nvPr/>
        </p:nvSpPr>
        <p:spPr>
          <a:xfrm>
            <a:off x="866074" y="661925"/>
            <a:ext cx="2842080" cy="1703654"/>
          </a:xfrm>
          <a:custGeom>
            <a:rect b="b" l="l" r="r" t="t"/>
            <a:pathLst>
              <a:path extrusionOk="0" h="4313047" w="6351016">
                <a:moveTo>
                  <a:pt x="0" y="0"/>
                </a:moveTo>
                <a:lnTo>
                  <a:pt x="6351016" y="0"/>
                </a:lnTo>
                <a:lnTo>
                  <a:pt x="6351016" y="4313047"/>
                </a:lnTo>
                <a:lnTo>
                  <a:pt x="0" y="4313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5" l="0" r="0" t="-65"/>
            </a:stretch>
          </a:blipFill>
          <a:ln>
            <a:noFill/>
          </a:ln>
        </p:spPr>
      </p:sp>
      <p:sp>
        <p:nvSpPr>
          <p:cNvPr descr="preencoded.png" id="326" name="Google Shape;326;p35"/>
          <p:cNvSpPr/>
          <p:nvPr/>
        </p:nvSpPr>
        <p:spPr>
          <a:xfrm>
            <a:off x="5243752" y="661575"/>
            <a:ext cx="2842698" cy="1704340"/>
          </a:xfrm>
          <a:custGeom>
            <a:rect b="b" l="l" r="r" t="t"/>
            <a:pathLst>
              <a:path extrusionOk="0" h="4287647" w="6317107">
                <a:moveTo>
                  <a:pt x="0" y="0"/>
                </a:moveTo>
                <a:lnTo>
                  <a:pt x="6317107" y="0"/>
                </a:lnTo>
                <a:lnTo>
                  <a:pt x="6317107" y="4287647"/>
                </a:lnTo>
                <a:lnTo>
                  <a:pt x="0" y="4287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327" name="Google Shape;327;p35"/>
          <p:cNvSpPr/>
          <p:nvPr/>
        </p:nvSpPr>
        <p:spPr>
          <a:xfrm>
            <a:off x="857750" y="2638950"/>
            <a:ext cx="2834369" cy="1703832"/>
          </a:xfrm>
          <a:custGeom>
            <a:rect b="b" l="l" r="r" t="t"/>
            <a:pathLst>
              <a:path extrusionOk="0" h="4543552" w="6829806">
                <a:moveTo>
                  <a:pt x="0" y="0"/>
                </a:moveTo>
                <a:lnTo>
                  <a:pt x="6829806" y="0"/>
                </a:lnTo>
                <a:lnTo>
                  <a:pt x="6829806" y="4543552"/>
                </a:lnTo>
                <a:lnTo>
                  <a:pt x="0" y="4543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3" l="0" r="0" t="-12"/>
            </a:stretch>
          </a:blipFill>
          <a:ln>
            <a:noFill/>
          </a:ln>
        </p:spPr>
      </p:sp>
      <p:sp>
        <p:nvSpPr>
          <p:cNvPr descr="preencoded.png" id="328" name="Google Shape;328;p35"/>
          <p:cNvSpPr/>
          <p:nvPr/>
        </p:nvSpPr>
        <p:spPr>
          <a:xfrm>
            <a:off x="5243750" y="2571750"/>
            <a:ext cx="2771894" cy="1777896"/>
          </a:xfrm>
          <a:custGeom>
            <a:rect b="b" l="l" r="r" t="t"/>
            <a:pathLst>
              <a:path extrusionOk="0" h="5043678" w="6760718">
                <a:moveTo>
                  <a:pt x="0" y="0"/>
                </a:moveTo>
                <a:lnTo>
                  <a:pt x="6760718" y="0"/>
                </a:lnTo>
                <a:lnTo>
                  <a:pt x="6760718" y="5043678"/>
                </a:lnTo>
                <a:lnTo>
                  <a:pt x="0" y="50436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" l="0" r="0" t="-14"/>
            </a:stretch>
          </a:blipFill>
          <a:ln>
            <a:noFill/>
          </a:ln>
        </p:spPr>
      </p:sp>
      <p:sp>
        <p:nvSpPr>
          <p:cNvPr id="329" name="Google Shape;329;p35"/>
          <p:cNvSpPr txBox="1"/>
          <p:nvPr/>
        </p:nvSpPr>
        <p:spPr>
          <a:xfrm>
            <a:off x="311511" y="4574833"/>
            <a:ext cx="8527899" cy="125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4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Elbow Method &amp; Sal</a:t>
            </a:r>
            <a:endParaRPr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38" name="Google Shape;338;p36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339" name="Google Shape;339;p36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0980"/>
            </a:srgbClr>
          </a:solidFill>
          <a:ln>
            <a:noFill/>
          </a:ln>
        </p:spPr>
      </p:sp>
      <p:sp>
        <p:nvSpPr>
          <p:cNvPr id="340" name="Google Shape;340;p36"/>
          <p:cNvSpPr txBox="1"/>
          <p:nvPr/>
        </p:nvSpPr>
        <p:spPr>
          <a:xfrm>
            <a:off x="540282" y="504487"/>
            <a:ext cx="8070357" cy="47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9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Recommendations</a:t>
            </a:r>
            <a:endParaRPr sz="700"/>
          </a:p>
        </p:txBody>
      </p:sp>
      <p:sp>
        <p:nvSpPr>
          <p:cNvPr id="341" name="Google Shape;341;p36"/>
          <p:cNvSpPr/>
          <p:nvPr/>
        </p:nvSpPr>
        <p:spPr>
          <a:xfrm>
            <a:off x="537901" y="1253366"/>
            <a:ext cx="334756" cy="334756"/>
          </a:xfrm>
          <a:custGeom>
            <a:rect b="b" l="l" r="r" t="t"/>
            <a:pathLst>
              <a:path extrusionOk="0" h="892683" w="892683">
                <a:moveTo>
                  <a:pt x="0" y="166624"/>
                </a:moveTo>
                <a:cubicBezTo>
                  <a:pt x="0" y="74549"/>
                  <a:pt x="74549" y="0"/>
                  <a:pt x="166624" y="0"/>
                </a:cubicBezTo>
                <a:lnTo>
                  <a:pt x="726059" y="0"/>
                </a:lnTo>
                <a:cubicBezTo>
                  <a:pt x="818134" y="0"/>
                  <a:pt x="892683" y="74549"/>
                  <a:pt x="892683" y="166624"/>
                </a:cubicBezTo>
                <a:lnTo>
                  <a:pt x="892683" y="726059"/>
                </a:lnTo>
                <a:cubicBezTo>
                  <a:pt x="892683" y="818134"/>
                  <a:pt x="818134" y="892683"/>
                  <a:pt x="726059" y="892683"/>
                </a:cubicBezTo>
                <a:lnTo>
                  <a:pt x="166624" y="892683"/>
                </a:lnTo>
                <a:cubicBezTo>
                  <a:pt x="74549" y="892683"/>
                  <a:pt x="0" y="818007"/>
                  <a:pt x="0" y="726059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42" name="Google Shape;342;p36"/>
          <p:cNvSpPr/>
          <p:nvPr/>
        </p:nvSpPr>
        <p:spPr>
          <a:xfrm>
            <a:off x="595241" y="1310712"/>
            <a:ext cx="219984" cy="219990"/>
          </a:xfrm>
          <a:custGeom>
            <a:rect b="b" l="l" r="r" t="t"/>
            <a:pathLst>
              <a:path extrusionOk="0" h="439979" w="439969">
                <a:moveTo>
                  <a:pt x="0" y="0"/>
                </a:moveTo>
                <a:lnTo>
                  <a:pt x="439969" y="0"/>
                </a:lnTo>
                <a:lnTo>
                  <a:pt x="439969" y="439979"/>
                </a:lnTo>
                <a:lnTo>
                  <a:pt x="0" y="439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321" r="-5318" t="0"/>
            </a:stretch>
          </a:blipFill>
          <a:ln>
            <a:noFill/>
          </a:ln>
        </p:spPr>
      </p:sp>
      <p:sp>
        <p:nvSpPr>
          <p:cNvPr id="343" name="Google Shape;343;p36"/>
          <p:cNvSpPr txBox="1"/>
          <p:nvPr/>
        </p:nvSpPr>
        <p:spPr>
          <a:xfrm>
            <a:off x="1009522" y="1301406"/>
            <a:ext cx="7601117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Improve inventory planning</a:t>
            </a:r>
            <a:endParaRPr sz="700"/>
          </a:p>
        </p:txBody>
      </p:sp>
      <p:sp>
        <p:nvSpPr>
          <p:cNvPr id="344" name="Google Shape;344;p36"/>
          <p:cNvSpPr/>
          <p:nvPr/>
        </p:nvSpPr>
        <p:spPr>
          <a:xfrm>
            <a:off x="537901" y="1861957"/>
            <a:ext cx="334756" cy="334756"/>
          </a:xfrm>
          <a:custGeom>
            <a:rect b="b" l="l" r="r" t="t"/>
            <a:pathLst>
              <a:path extrusionOk="0" h="892683" w="892683">
                <a:moveTo>
                  <a:pt x="0" y="166624"/>
                </a:moveTo>
                <a:cubicBezTo>
                  <a:pt x="0" y="74549"/>
                  <a:pt x="74549" y="0"/>
                  <a:pt x="166624" y="0"/>
                </a:cubicBezTo>
                <a:lnTo>
                  <a:pt x="726059" y="0"/>
                </a:lnTo>
                <a:cubicBezTo>
                  <a:pt x="818134" y="0"/>
                  <a:pt x="892683" y="74549"/>
                  <a:pt x="892683" y="166624"/>
                </a:cubicBezTo>
                <a:lnTo>
                  <a:pt x="892683" y="726059"/>
                </a:lnTo>
                <a:cubicBezTo>
                  <a:pt x="892683" y="818134"/>
                  <a:pt x="818134" y="892683"/>
                  <a:pt x="726059" y="892683"/>
                </a:cubicBezTo>
                <a:lnTo>
                  <a:pt x="166624" y="892683"/>
                </a:lnTo>
                <a:cubicBezTo>
                  <a:pt x="74549" y="892683"/>
                  <a:pt x="0" y="818007"/>
                  <a:pt x="0" y="726059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45" name="Google Shape;345;p36"/>
          <p:cNvSpPr/>
          <p:nvPr/>
        </p:nvSpPr>
        <p:spPr>
          <a:xfrm>
            <a:off x="595241" y="1919297"/>
            <a:ext cx="219984" cy="219990"/>
          </a:xfrm>
          <a:custGeom>
            <a:rect b="b" l="l" r="r" t="t"/>
            <a:pathLst>
              <a:path extrusionOk="0" h="439979" w="439969">
                <a:moveTo>
                  <a:pt x="0" y="0"/>
                </a:moveTo>
                <a:lnTo>
                  <a:pt x="439969" y="0"/>
                </a:lnTo>
                <a:lnTo>
                  <a:pt x="439969" y="439979"/>
                </a:lnTo>
                <a:lnTo>
                  <a:pt x="0" y="439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65" r="-1065" t="0"/>
            </a:stretch>
          </a:blipFill>
          <a:ln>
            <a:noFill/>
          </a:ln>
        </p:spPr>
      </p:sp>
      <p:sp>
        <p:nvSpPr>
          <p:cNvPr id="346" name="Google Shape;346;p36"/>
          <p:cNvSpPr txBox="1"/>
          <p:nvPr/>
        </p:nvSpPr>
        <p:spPr>
          <a:xfrm>
            <a:off x="1009522" y="1909991"/>
            <a:ext cx="7601117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Focus on high-performing product lines</a:t>
            </a:r>
            <a:endParaRPr sz="700"/>
          </a:p>
        </p:txBody>
      </p:sp>
      <p:sp>
        <p:nvSpPr>
          <p:cNvPr id="347" name="Google Shape;347;p36"/>
          <p:cNvSpPr/>
          <p:nvPr/>
        </p:nvSpPr>
        <p:spPr>
          <a:xfrm>
            <a:off x="537901" y="2470542"/>
            <a:ext cx="334756" cy="334756"/>
          </a:xfrm>
          <a:custGeom>
            <a:rect b="b" l="l" r="r" t="t"/>
            <a:pathLst>
              <a:path extrusionOk="0" h="892683" w="892683">
                <a:moveTo>
                  <a:pt x="0" y="166624"/>
                </a:moveTo>
                <a:cubicBezTo>
                  <a:pt x="0" y="74549"/>
                  <a:pt x="74549" y="0"/>
                  <a:pt x="166624" y="0"/>
                </a:cubicBezTo>
                <a:lnTo>
                  <a:pt x="726059" y="0"/>
                </a:lnTo>
                <a:cubicBezTo>
                  <a:pt x="818134" y="0"/>
                  <a:pt x="892683" y="74549"/>
                  <a:pt x="892683" y="166624"/>
                </a:cubicBezTo>
                <a:lnTo>
                  <a:pt x="892683" y="726059"/>
                </a:lnTo>
                <a:cubicBezTo>
                  <a:pt x="892683" y="818134"/>
                  <a:pt x="818134" y="892683"/>
                  <a:pt x="726059" y="892683"/>
                </a:cubicBezTo>
                <a:lnTo>
                  <a:pt x="166624" y="892683"/>
                </a:lnTo>
                <a:cubicBezTo>
                  <a:pt x="74549" y="892683"/>
                  <a:pt x="0" y="818007"/>
                  <a:pt x="0" y="726059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48" name="Google Shape;348;p36"/>
          <p:cNvSpPr/>
          <p:nvPr/>
        </p:nvSpPr>
        <p:spPr>
          <a:xfrm>
            <a:off x="595241" y="2527888"/>
            <a:ext cx="219984" cy="219990"/>
          </a:xfrm>
          <a:custGeom>
            <a:rect b="b" l="l" r="r" t="t"/>
            <a:pathLst>
              <a:path extrusionOk="0" h="439979" w="439969">
                <a:moveTo>
                  <a:pt x="0" y="0"/>
                </a:moveTo>
                <a:lnTo>
                  <a:pt x="439969" y="0"/>
                </a:lnTo>
                <a:lnTo>
                  <a:pt x="439969" y="439979"/>
                </a:lnTo>
                <a:lnTo>
                  <a:pt x="0" y="439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3193" r="-3193" t="0"/>
            </a:stretch>
          </a:blipFill>
          <a:ln>
            <a:noFill/>
          </a:ln>
        </p:spPr>
      </p:sp>
      <p:sp>
        <p:nvSpPr>
          <p:cNvPr id="349" name="Google Shape;349;p36"/>
          <p:cNvSpPr txBox="1"/>
          <p:nvPr/>
        </p:nvSpPr>
        <p:spPr>
          <a:xfrm>
            <a:off x="1009522" y="2518582"/>
            <a:ext cx="7601117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Enhance customer engagement</a:t>
            </a:r>
            <a:endParaRPr sz="700"/>
          </a:p>
        </p:txBody>
      </p:sp>
      <p:sp>
        <p:nvSpPr>
          <p:cNvPr id="350" name="Google Shape;350;p36"/>
          <p:cNvSpPr/>
          <p:nvPr/>
        </p:nvSpPr>
        <p:spPr>
          <a:xfrm>
            <a:off x="537901" y="3079128"/>
            <a:ext cx="334756" cy="334756"/>
          </a:xfrm>
          <a:custGeom>
            <a:rect b="b" l="l" r="r" t="t"/>
            <a:pathLst>
              <a:path extrusionOk="0" h="892683" w="892683">
                <a:moveTo>
                  <a:pt x="0" y="166624"/>
                </a:moveTo>
                <a:cubicBezTo>
                  <a:pt x="0" y="74549"/>
                  <a:pt x="74549" y="0"/>
                  <a:pt x="166624" y="0"/>
                </a:cubicBezTo>
                <a:lnTo>
                  <a:pt x="726059" y="0"/>
                </a:lnTo>
                <a:cubicBezTo>
                  <a:pt x="818134" y="0"/>
                  <a:pt x="892683" y="74549"/>
                  <a:pt x="892683" y="166624"/>
                </a:cubicBezTo>
                <a:lnTo>
                  <a:pt x="892683" y="726059"/>
                </a:lnTo>
                <a:cubicBezTo>
                  <a:pt x="892683" y="818134"/>
                  <a:pt x="818134" y="892683"/>
                  <a:pt x="726059" y="892683"/>
                </a:cubicBezTo>
                <a:lnTo>
                  <a:pt x="166624" y="892683"/>
                </a:lnTo>
                <a:cubicBezTo>
                  <a:pt x="74549" y="892683"/>
                  <a:pt x="0" y="818007"/>
                  <a:pt x="0" y="726059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51" name="Google Shape;351;p36"/>
          <p:cNvSpPr/>
          <p:nvPr/>
        </p:nvSpPr>
        <p:spPr>
          <a:xfrm>
            <a:off x="595241" y="3136473"/>
            <a:ext cx="219984" cy="219990"/>
          </a:xfrm>
          <a:custGeom>
            <a:rect b="b" l="l" r="r" t="t"/>
            <a:pathLst>
              <a:path extrusionOk="0" h="439979" w="439969">
                <a:moveTo>
                  <a:pt x="0" y="0"/>
                </a:moveTo>
                <a:lnTo>
                  <a:pt x="439969" y="0"/>
                </a:lnTo>
                <a:lnTo>
                  <a:pt x="439969" y="439979"/>
                </a:lnTo>
                <a:lnTo>
                  <a:pt x="0" y="439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8085" r="-18086" t="0"/>
            </a:stretch>
          </a:blipFill>
          <a:ln>
            <a:noFill/>
          </a:ln>
        </p:spPr>
      </p:sp>
      <p:sp>
        <p:nvSpPr>
          <p:cNvPr id="352" name="Google Shape;352;p36"/>
          <p:cNvSpPr txBox="1"/>
          <p:nvPr/>
        </p:nvSpPr>
        <p:spPr>
          <a:xfrm>
            <a:off x="1009522" y="3127167"/>
            <a:ext cx="7601117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Optimize branch performance</a:t>
            </a:r>
            <a:endParaRPr sz="700"/>
          </a:p>
        </p:txBody>
      </p:sp>
      <p:sp>
        <p:nvSpPr>
          <p:cNvPr id="353" name="Google Shape;353;p36"/>
          <p:cNvSpPr/>
          <p:nvPr/>
        </p:nvSpPr>
        <p:spPr>
          <a:xfrm>
            <a:off x="537901" y="3687718"/>
            <a:ext cx="334756" cy="334756"/>
          </a:xfrm>
          <a:custGeom>
            <a:rect b="b" l="l" r="r" t="t"/>
            <a:pathLst>
              <a:path extrusionOk="0" h="892683" w="892683">
                <a:moveTo>
                  <a:pt x="0" y="166624"/>
                </a:moveTo>
                <a:cubicBezTo>
                  <a:pt x="0" y="74549"/>
                  <a:pt x="74549" y="0"/>
                  <a:pt x="166624" y="0"/>
                </a:cubicBezTo>
                <a:lnTo>
                  <a:pt x="726059" y="0"/>
                </a:lnTo>
                <a:cubicBezTo>
                  <a:pt x="818134" y="0"/>
                  <a:pt x="892683" y="74549"/>
                  <a:pt x="892683" y="166624"/>
                </a:cubicBezTo>
                <a:lnTo>
                  <a:pt x="892683" y="726059"/>
                </a:lnTo>
                <a:cubicBezTo>
                  <a:pt x="892683" y="818134"/>
                  <a:pt x="818134" y="892683"/>
                  <a:pt x="726059" y="892683"/>
                </a:cubicBezTo>
                <a:lnTo>
                  <a:pt x="166624" y="892683"/>
                </a:lnTo>
                <a:cubicBezTo>
                  <a:pt x="74549" y="892683"/>
                  <a:pt x="0" y="818007"/>
                  <a:pt x="0" y="726059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54" name="Google Shape;354;p36"/>
          <p:cNvSpPr/>
          <p:nvPr/>
        </p:nvSpPr>
        <p:spPr>
          <a:xfrm>
            <a:off x="595241" y="3745059"/>
            <a:ext cx="219984" cy="219989"/>
          </a:xfrm>
          <a:custGeom>
            <a:rect b="b" l="l" r="r" t="t"/>
            <a:pathLst>
              <a:path extrusionOk="0" h="439979" w="439969">
                <a:moveTo>
                  <a:pt x="0" y="0"/>
                </a:moveTo>
                <a:lnTo>
                  <a:pt x="439969" y="0"/>
                </a:lnTo>
                <a:lnTo>
                  <a:pt x="439969" y="439979"/>
                </a:lnTo>
                <a:lnTo>
                  <a:pt x="0" y="439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11702" r="-11702" t="0"/>
            </a:stretch>
          </a:blipFill>
          <a:ln>
            <a:noFill/>
          </a:ln>
        </p:spPr>
      </p:sp>
      <p:sp>
        <p:nvSpPr>
          <p:cNvPr id="355" name="Google Shape;355;p36"/>
          <p:cNvSpPr txBox="1"/>
          <p:nvPr/>
        </p:nvSpPr>
        <p:spPr>
          <a:xfrm>
            <a:off x="1009522" y="3735752"/>
            <a:ext cx="7601117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Use predictive analytics for planning</a:t>
            </a:r>
            <a:endParaRPr sz="700"/>
          </a:p>
        </p:txBody>
      </p:sp>
      <p:sp>
        <p:nvSpPr>
          <p:cNvPr id="356" name="Google Shape;356;p36"/>
          <p:cNvSpPr/>
          <p:nvPr/>
        </p:nvSpPr>
        <p:spPr>
          <a:xfrm>
            <a:off x="537901" y="4296304"/>
            <a:ext cx="334756" cy="334756"/>
          </a:xfrm>
          <a:custGeom>
            <a:rect b="b" l="l" r="r" t="t"/>
            <a:pathLst>
              <a:path extrusionOk="0" h="892683" w="892683">
                <a:moveTo>
                  <a:pt x="0" y="166624"/>
                </a:moveTo>
                <a:cubicBezTo>
                  <a:pt x="0" y="74549"/>
                  <a:pt x="74549" y="0"/>
                  <a:pt x="166624" y="0"/>
                </a:cubicBezTo>
                <a:lnTo>
                  <a:pt x="726059" y="0"/>
                </a:lnTo>
                <a:cubicBezTo>
                  <a:pt x="818134" y="0"/>
                  <a:pt x="892683" y="74549"/>
                  <a:pt x="892683" y="166624"/>
                </a:cubicBezTo>
                <a:lnTo>
                  <a:pt x="892683" y="726059"/>
                </a:lnTo>
                <a:cubicBezTo>
                  <a:pt x="892683" y="818134"/>
                  <a:pt x="818134" y="892683"/>
                  <a:pt x="726059" y="892683"/>
                </a:cubicBezTo>
                <a:lnTo>
                  <a:pt x="166624" y="892683"/>
                </a:lnTo>
                <a:cubicBezTo>
                  <a:pt x="74549" y="892683"/>
                  <a:pt x="0" y="818007"/>
                  <a:pt x="0" y="726059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57" name="Google Shape;357;p36"/>
          <p:cNvSpPr/>
          <p:nvPr/>
        </p:nvSpPr>
        <p:spPr>
          <a:xfrm>
            <a:off x="595241" y="4353649"/>
            <a:ext cx="219984" cy="219989"/>
          </a:xfrm>
          <a:custGeom>
            <a:rect b="b" l="l" r="r" t="t"/>
            <a:pathLst>
              <a:path extrusionOk="0" h="439979" w="439969">
                <a:moveTo>
                  <a:pt x="0" y="0"/>
                </a:moveTo>
                <a:lnTo>
                  <a:pt x="439969" y="0"/>
                </a:lnTo>
                <a:lnTo>
                  <a:pt x="439969" y="439979"/>
                </a:lnTo>
                <a:lnTo>
                  <a:pt x="0" y="439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1" r="0" t="0"/>
            </a:stretch>
          </a:blipFill>
          <a:ln>
            <a:noFill/>
          </a:ln>
        </p:spPr>
      </p:sp>
      <p:sp>
        <p:nvSpPr>
          <p:cNvPr id="358" name="Google Shape;358;p36"/>
          <p:cNvSpPr txBox="1"/>
          <p:nvPr/>
        </p:nvSpPr>
        <p:spPr>
          <a:xfrm>
            <a:off x="1009522" y="4344343"/>
            <a:ext cx="7601117" cy="23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 reporting workflows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67" name="Google Shape;367;p37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368" name="Google Shape;368;p37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2941"/>
            </a:srgbClr>
          </a:solidFill>
          <a:ln>
            <a:noFill/>
          </a:ln>
        </p:spPr>
      </p:sp>
      <p:sp>
        <p:nvSpPr>
          <p:cNvPr id="369" name="Google Shape;369;p37"/>
          <p:cNvSpPr txBox="1"/>
          <p:nvPr/>
        </p:nvSpPr>
        <p:spPr>
          <a:xfrm>
            <a:off x="540282" y="1029438"/>
            <a:ext cx="8070357" cy="49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Challenges &amp; Learnings</a:t>
            </a:r>
            <a:endParaRPr sz="700"/>
          </a:p>
        </p:txBody>
      </p:sp>
      <p:sp>
        <p:nvSpPr>
          <p:cNvPr id="370" name="Google Shape;370;p37"/>
          <p:cNvSpPr txBox="1"/>
          <p:nvPr/>
        </p:nvSpPr>
        <p:spPr>
          <a:xfrm>
            <a:off x="540282" y="1902548"/>
            <a:ext cx="3846843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Challenges</a:t>
            </a:r>
            <a:endParaRPr sz="700"/>
          </a:p>
        </p:txBody>
      </p:sp>
      <p:sp>
        <p:nvSpPr>
          <p:cNvPr id="371" name="Google Shape;371;p37"/>
          <p:cNvSpPr txBox="1"/>
          <p:nvPr/>
        </p:nvSpPr>
        <p:spPr>
          <a:xfrm>
            <a:off x="540282" y="2255206"/>
            <a:ext cx="3846843" cy="1498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preprocessing complexity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SQL integration with analytics pipeline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Dashboard usability &amp; layout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Model evaluation &amp; validation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Comprehensive documentation</a:t>
            </a:r>
            <a:endParaRPr sz="700"/>
          </a:p>
        </p:txBody>
      </p:sp>
      <p:sp>
        <p:nvSpPr>
          <p:cNvPr id="372" name="Google Shape;372;p37"/>
          <p:cNvSpPr txBox="1"/>
          <p:nvPr/>
        </p:nvSpPr>
        <p:spPr>
          <a:xfrm>
            <a:off x="4768562" y="1902548"/>
            <a:ext cx="3846843" cy="2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Learnings</a:t>
            </a:r>
            <a:endParaRPr sz="700"/>
          </a:p>
        </p:txBody>
      </p:sp>
      <p:sp>
        <p:nvSpPr>
          <p:cNvPr id="373" name="Google Shape;373;p37"/>
          <p:cNvSpPr txBox="1"/>
          <p:nvPr/>
        </p:nvSpPr>
        <p:spPr>
          <a:xfrm>
            <a:off x="4768562" y="2255205"/>
            <a:ext cx="3846843" cy="179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(pandas, scikit-learn)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SQL (joins, window functions)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Power BI dashboarding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Statistics &amp; Time-series methods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&amp; BI automation</a:t>
            </a:r>
            <a:endParaRPr sz="700"/>
          </a:p>
          <a:p>
            <a:pPr indent="-101600" lvl="1" marL="215900" marR="0" rtl="0" algn="l">
              <a:lnSpc>
                <a:spcPct val="15964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Arial"/>
              <a:buChar char="•"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Version control with GitHub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82" name="Google Shape;382;p38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383" name="Google Shape;383;p38"/>
          <p:cNvSpPr/>
          <p:nvPr/>
        </p:nvSpPr>
        <p:spPr>
          <a:xfrm>
            <a:off x="0" y="0"/>
            <a:ext cx="9150905" cy="5147500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09151A">
              <a:alpha val="72157"/>
            </a:srgbClr>
          </a:solidFill>
          <a:ln>
            <a:noFill/>
          </a:ln>
        </p:spPr>
      </p:sp>
      <p:sp>
        <p:nvSpPr>
          <p:cNvPr id="384" name="Google Shape;384;p38"/>
          <p:cNvSpPr txBox="1"/>
          <p:nvPr/>
        </p:nvSpPr>
        <p:spPr>
          <a:xfrm>
            <a:off x="540282" y="416757"/>
            <a:ext cx="8070357" cy="388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Scope &amp; Roadmap</a:t>
            </a:r>
            <a:endParaRPr sz="700"/>
          </a:p>
        </p:txBody>
      </p:sp>
      <p:sp>
        <p:nvSpPr>
          <p:cNvPr descr="preencoded.png" id="385" name="Google Shape;385;p38"/>
          <p:cNvSpPr/>
          <p:nvPr/>
        </p:nvSpPr>
        <p:spPr>
          <a:xfrm>
            <a:off x="540282" y="1048269"/>
            <a:ext cx="3111389" cy="3111437"/>
          </a:xfrm>
          <a:custGeom>
            <a:rect b="b" l="l" r="r" t="t"/>
            <a:pathLst>
              <a:path extrusionOk="0" h="8297164" w="8297037">
                <a:moveTo>
                  <a:pt x="0" y="0"/>
                </a:moveTo>
                <a:lnTo>
                  <a:pt x="8297037" y="0"/>
                </a:lnTo>
                <a:lnTo>
                  <a:pt x="8297037" y="8297164"/>
                </a:lnTo>
                <a:lnTo>
                  <a:pt x="0" y="829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" r="0" t="0"/>
            </a:stretch>
          </a:blipFill>
          <a:ln>
            <a:noFill/>
          </a:ln>
        </p:spPr>
      </p:sp>
      <p:sp>
        <p:nvSpPr>
          <p:cNvPr id="386" name="Google Shape;386;p38"/>
          <p:cNvSpPr/>
          <p:nvPr/>
        </p:nvSpPr>
        <p:spPr>
          <a:xfrm>
            <a:off x="6663609" y="1226558"/>
            <a:ext cx="14288" cy="2254187"/>
          </a:xfrm>
          <a:custGeom>
            <a:rect b="b" l="l" r="r" t="t"/>
            <a:pathLst>
              <a:path extrusionOk="0" h="6011164" w="38100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cubicBezTo>
                  <a:pt x="29591" y="0"/>
                  <a:pt x="38100" y="8509"/>
                  <a:pt x="38100" y="19050"/>
                </a:cubicBezTo>
                <a:lnTo>
                  <a:pt x="38100" y="5992114"/>
                </a:lnTo>
                <a:cubicBezTo>
                  <a:pt x="38100" y="6002655"/>
                  <a:pt x="29591" y="6011164"/>
                  <a:pt x="19050" y="6011164"/>
                </a:cubicBezTo>
                <a:cubicBezTo>
                  <a:pt x="8509" y="6011164"/>
                  <a:pt x="0" y="6002655"/>
                  <a:pt x="0" y="5992114"/>
                </a:cubicBezTo>
                <a:close/>
              </a:path>
            </a:pathLst>
          </a:custGeom>
          <a:solidFill>
            <a:srgbClr val="194A9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8"/>
          <p:cNvSpPr/>
          <p:nvPr/>
        </p:nvSpPr>
        <p:spPr>
          <a:xfrm>
            <a:off x="6191502" y="1353979"/>
            <a:ext cx="358950" cy="14288"/>
          </a:xfrm>
          <a:custGeom>
            <a:rect b="b" l="l" r="r" t="t"/>
            <a:pathLst>
              <a:path extrusionOk="0" h="38100" w="957199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38149" y="0"/>
                </a:lnTo>
                <a:cubicBezTo>
                  <a:pt x="948690" y="0"/>
                  <a:pt x="957199" y="8509"/>
                  <a:pt x="957199" y="19050"/>
                </a:cubicBezTo>
                <a:cubicBezTo>
                  <a:pt x="957199" y="29591"/>
                  <a:pt x="948690" y="38100"/>
                  <a:pt x="938149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194A9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8"/>
          <p:cNvSpPr/>
          <p:nvPr/>
        </p:nvSpPr>
        <p:spPr>
          <a:xfrm>
            <a:off x="6533769" y="1224177"/>
            <a:ext cx="273986" cy="273987"/>
          </a:xfrm>
          <a:custGeom>
            <a:rect b="b" l="l" r="r" t="t"/>
            <a:pathLst>
              <a:path extrusionOk="0" h="730631" w="730631">
                <a:moveTo>
                  <a:pt x="0" y="136398"/>
                </a:moveTo>
                <a:cubicBezTo>
                  <a:pt x="0" y="61087"/>
                  <a:pt x="61087" y="0"/>
                  <a:pt x="136398" y="0"/>
                </a:cubicBezTo>
                <a:lnTo>
                  <a:pt x="594233" y="0"/>
                </a:lnTo>
                <a:cubicBezTo>
                  <a:pt x="669544" y="0"/>
                  <a:pt x="730631" y="61087"/>
                  <a:pt x="730631" y="136398"/>
                </a:cubicBezTo>
                <a:lnTo>
                  <a:pt x="730631" y="594233"/>
                </a:lnTo>
                <a:cubicBezTo>
                  <a:pt x="730631" y="669544"/>
                  <a:pt x="669544" y="730631"/>
                  <a:pt x="594233" y="730631"/>
                </a:cubicBezTo>
                <a:lnTo>
                  <a:pt x="136398" y="730631"/>
                </a:lnTo>
                <a:cubicBezTo>
                  <a:pt x="61087" y="730631"/>
                  <a:pt x="0" y="669544"/>
                  <a:pt x="0" y="594233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" name="Google Shape;389;p38"/>
          <p:cNvGrpSpPr/>
          <p:nvPr/>
        </p:nvGrpSpPr>
        <p:grpSpPr>
          <a:xfrm>
            <a:off x="6580985" y="1248975"/>
            <a:ext cx="179475" cy="224311"/>
            <a:chOff x="0" y="0"/>
            <a:chExt cx="478600" cy="598161"/>
          </a:xfrm>
        </p:grpSpPr>
        <p:sp>
          <p:nvSpPr>
            <p:cNvPr id="390" name="Google Shape;390;p38"/>
            <p:cNvSpPr/>
            <p:nvPr/>
          </p:nvSpPr>
          <p:spPr>
            <a:xfrm>
              <a:off x="0" y="0"/>
              <a:ext cx="478596" cy="598161"/>
            </a:xfrm>
            <a:custGeom>
              <a:rect b="b" l="l" r="r" t="t"/>
              <a:pathLst>
                <a:path extrusionOk="0" h="598161" w="478596">
                  <a:moveTo>
                    <a:pt x="0" y="0"/>
                  </a:moveTo>
                  <a:lnTo>
                    <a:pt x="478596" y="0"/>
                  </a:lnTo>
                  <a:lnTo>
                    <a:pt x="478596" y="598161"/>
                  </a:lnTo>
                  <a:lnTo>
                    <a:pt x="0" y="598161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0" l="-110352" r="-110356" t="0"/>
              </a:stretch>
            </a:blipFill>
            <a:ln>
              <a:noFill/>
            </a:ln>
          </p:spPr>
        </p:sp>
        <p:sp>
          <p:nvSpPr>
            <p:cNvPr id="391" name="Google Shape;391;p38"/>
            <p:cNvSpPr txBox="1"/>
            <p:nvPr/>
          </p:nvSpPr>
          <p:spPr>
            <a:xfrm>
              <a:off x="0" y="0"/>
              <a:ext cx="478600" cy="598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</a:t>
              </a:r>
              <a:endParaRPr sz="700"/>
            </a:p>
          </p:txBody>
        </p:sp>
      </p:grpSp>
      <p:sp>
        <p:nvSpPr>
          <p:cNvPr id="392" name="Google Shape;392;p38"/>
          <p:cNvSpPr txBox="1"/>
          <p:nvPr/>
        </p:nvSpPr>
        <p:spPr>
          <a:xfrm>
            <a:off x="4726186" y="1258143"/>
            <a:ext cx="1346349" cy="196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Short-term</a:t>
            </a:r>
            <a:endParaRPr sz="700"/>
          </a:p>
        </p:txBody>
      </p:sp>
      <p:sp>
        <p:nvSpPr>
          <p:cNvPr id="393" name="Google Shape;393;p38"/>
          <p:cNvSpPr txBox="1"/>
          <p:nvPr/>
        </p:nvSpPr>
        <p:spPr>
          <a:xfrm>
            <a:off x="4726186" y="1528258"/>
            <a:ext cx="1346349" cy="35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1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ETL • Real-time KPIs</a:t>
            </a:r>
            <a:endParaRPr sz="700"/>
          </a:p>
        </p:txBody>
      </p:sp>
      <p:sp>
        <p:nvSpPr>
          <p:cNvPr id="394" name="Google Shape;394;p38"/>
          <p:cNvSpPr/>
          <p:nvPr/>
        </p:nvSpPr>
        <p:spPr>
          <a:xfrm>
            <a:off x="6791068" y="2017976"/>
            <a:ext cx="358950" cy="14288"/>
          </a:xfrm>
          <a:custGeom>
            <a:rect b="b" l="l" r="r" t="t"/>
            <a:pathLst>
              <a:path extrusionOk="0" h="38100" w="957199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38149" y="0"/>
                </a:lnTo>
                <a:cubicBezTo>
                  <a:pt x="948690" y="0"/>
                  <a:pt x="957199" y="8509"/>
                  <a:pt x="957199" y="19050"/>
                </a:cubicBezTo>
                <a:cubicBezTo>
                  <a:pt x="957199" y="29591"/>
                  <a:pt x="948690" y="38100"/>
                  <a:pt x="938149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194A9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8"/>
          <p:cNvSpPr/>
          <p:nvPr/>
        </p:nvSpPr>
        <p:spPr>
          <a:xfrm>
            <a:off x="6533769" y="1888170"/>
            <a:ext cx="273986" cy="273987"/>
          </a:xfrm>
          <a:custGeom>
            <a:rect b="b" l="l" r="r" t="t"/>
            <a:pathLst>
              <a:path extrusionOk="0" h="730631" w="730631">
                <a:moveTo>
                  <a:pt x="0" y="136398"/>
                </a:moveTo>
                <a:cubicBezTo>
                  <a:pt x="0" y="61087"/>
                  <a:pt x="61087" y="0"/>
                  <a:pt x="136398" y="0"/>
                </a:cubicBezTo>
                <a:lnTo>
                  <a:pt x="594233" y="0"/>
                </a:lnTo>
                <a:cubicBezTo>
                  <a:pt x="669544" y="0"/>
                  <a:pt x="730631" y="61087"/>
                  <a:pt x="730631" y="136398"/>
                </a:cubicBezTo>
                <a:lnTo>
                  <a:pt x="730631" y="594233"/>
                </a:lnTo>
                <a:cubicBezTo>
                  <a:pt x="730631" y="669544"/>
                  <a:pt x="669544" y="730631"/>
                  <a:pt x="594233" y="730631"/>
                </a:cubicBezTo>
                <a:lnTo>
                  <a:pt x="136398" y="730631"/>
                </a:lnTo>
                <a:cubicBezTo>
                  <a:pt x="61087" y="730631"/>
                  <a:pt x="0" y="669544"/>
                  <a:pt x="0" y="594233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6" name="Google Shape;396;p38"/>
          <p:cNvGrpSpPr/>
          <p:nvPr/>
        </p:nvGrpSpPr>
        <p:grpSpPr>
          <a:xfrm>
            <a:off x="6580985" y="1912967"/>
            <a:ext cx="179475" cy="224311"/>
            <a:chOff x="0" y="0"/>
            <a:chExt cx="478600" cy="598161"/>
          </a:xfrm>
        </p:grpSpPr>
        <p:sp>
          <p:nvSpPr>
            <p:cNvPr id="397" name="Google Shape;397;p38"/>
            <p:cNvSpPr/>
            <p:nvPr/>
          </p:nvSpPr>
          <p:spPr>
            <a:xfrm>
              <a:off x="0" y="0"/>
              <a:ext cx="478596" cy="598161"/>
            </a:xfrm>
            <a:custGeom>
              <a:rect b="b" l="l" r="r" t="t"/>
              <a:pathLst>
                <a:path extrusionOk="0" h="598161" w="478596">
                  <a:moveTo>
                    <a:pt x="0" y="0"/>
                  </a:moveTo>
                  <a:lnTo>
                    <a:pt x="478596" y="0"/>
                  </a:lnTo>
                  <a:lnTo>
                    <a:pt x="478596" y="598161"/>
                  </a:lnTo>
                  <a:lnTo>
                    <a:pt x="0" y="598161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0" l="-110352" r="-110356" t="0"/>
              </a:stretch>
            </a:blipFill>
            <a:ln>
              <a:noFill/>
            </a:ln>
          </p:spPr>
        </p:sp>
        <p:sp>
          <p:nvSpPr>
            <p:cNvPr id="398" name="Google Shape;398;p38"/>
            <p:cNvSpPr txBox="1"/>
            <p:nvPr/>
          </p:nvSpPr>
          <p:spPr>
            <a:xfrm>
              <a:off x="0" y="0"/>
              <a:ext cx="478600" cy="598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</a:t>
              </a:r>
              <a:endParaRPr sz="700"/>
            </a:p>
          </p:txBody>
        </p:sp>
      </p:grpSp>
      <p:sp>
        <p:nvSpPr>
          <p:cNvPr id="399" name="Google Shape;399;p38"/>
          <p:cNvSpPr txBox="1"/>
          <p:nvPr/>
        </p:nvSpPr>
        <p:spPr>
          <a:xfrm>
            <a:off x="7268980" y="1922136"/>
            <a:ext cx="1346426" cy="196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Mid-term</a:t>
            </a:r>
            <a:endParaRPr sz="700"/>
          </a:p>
        </p:txBody>
      </p:sp>
      <p:sp>
        <p:nvSpPr>
          <p:cNvPr id="400" name="Google Shape;400;p38"/>
          <p:cNvSpPr txBox="1"/>
          <p:nvPr/>
        </p:nvSpPr>
        <p:spPr>
          <a:xfrm>
            <a:off x="7268980" y="2192255"/>
            <a:ext cx="1346426" cy="358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Cloud deployment • Scalable storage</a:t>
            </a:r>
            <a:endParaRPr sz="700"/>
          </a:p>
        </p:txBody>
      </p:sp>
      <p:sp>
        <p:nvSpPr>
          <p:cNvPr id="401" name="Google Shape;401;p38"/>
          <p:cNvSpPr/>
          <p:nvPr/>
        </p:nvSpPr>
        <p:spPr>
          <a:xfrm>
            <a:off x="6191502" y="2609807"/>
            <a:ext cx="358950" cy="14288"/>
          </a:xfrm>
          <a:custGeom>
            <a:rect b="b" l="l" r="r" t="t"/>
            <a:pathLst>
              <a:path extrusionOk="0" h="38100" w="957199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38149" y="0"/>
                </a:lnTo>
                <a:cubicBezTo>
                  <a:pt x="948690" y="0"/>
                  <a:pt x="957199" y="8509"/>
                  <a:pt x="957199" y="19050"/>
                </a:cubicBezTo>
                <a:cubicBezTo>
                  <a:pt x="957199" y="29591"/>
                  <a:pt x="948690" y="38100"/>
                  <a:pt x="938149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194A9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8"/>
          <p:cNvSpPr/>
          <p:nvPr/>
        </p:nvSpPr>
        <p:spPr>
          <a:xfrm>
            <a:off x="6533769" y="2480001"/>
            <a:ext cx="273986" cy="273987"/>
          </a:xfrm>
          <a:custGeom>
            <a:rect b="b" l="l" r="r" t="t"/>
            <a:pathLst>
              <a:path extrusionOk="0" h="730631" w="730631">
                <a:moveTo>
                  <a:pt x="0" y="136398"/>
                </a:moveTo>
                <a:cubicBezTo>
                  <a:pt x="0" y="61087"/>
                  <a:pt x="61087" y="0"/>
                  <a:pt x="136398" y="0"/>
                </a:cubicBezTo>
                <a:lnTo>
                  <a:pt x="594233" y="0"/>
                </a:lnTo>
                <a:cubicBezTo>
                  <a:pt x="669544" y="0"/>
                  <a:pt x="730631" y="61087"/>
                  <a:pt x="730631" y="136398"/>
                </a:cubicBezTo>
                <a:lnTo>
                  <a:pt x="730631" y="594233"/>
                </a:lnTo>
                <a:cubicBezTo>
                  <a:pt x="730631" y="669544"/>
                  <a:pt x="669544" y="730631"/>
                  <a:pt x="594233" y="730631"/>
                </a:cubicBezTo>
                <a:lnTo>
                  <a:pt x="136398" y="730631"/>
                </a:lnTo>
                <a:cubicBezTo>
                  <a:pt x="61087" y="730631"/>
                  <a:pt x="0" y="669544"/>
                  <a:pt x="0" y="594233"/>
                </a:cubicBezTo>
                <a:close/>
              </a:path>
            </a:pathLst>
          </a:custGeom>
          <a:solidFill>
            <a:srgbClr val="003180"/>
          </a:solidFill>
          <a:ln cap="sq" cmpd="sng" w="9525">
            <a:solidFill>
              <a:srgbClr val="194A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38"/>
          <p:cNvGrpSpPr/>
          <p:nvPr/>
        </p:nvGrpSpPr>
        <p:grpSpPr>
          <a:xfrm>
            <a:off x="6580985" y="2504799"/>
            <a:ext cx="179475" cy="224311"/>
            <a:chOff x="0" y="0"/>
            <a:chExt cx="478600" cy="598161"/>
          </a:xfrm>
        </p:grpSpPr>
        <p:sp>
          <p:nvSpPr>
            <p:cNvPr id="404" name="Google Shape;404;p38"/>
            <p:cNvSpPr/>
            <p:nvPr/>
          </p:nvSpPr>
          <p:spPr>
            <a:xfrm>
              <a:off x="0" y="0"/>
              <a:ext cx="478596" cy="598161"/>
            </a:xfrm>
            <a:custGeom>
              <a:rect b="b" l="l" r="r" t="t"/>
              <a:pathLst>
                <a:path extrusionOk="0" h="598161" w="478596">
                  <a:moveTo>
                    <a:pt x="0" y="0"/>
                  </a:moveTo>
                  <a:lnTo>
                    <a:pt x="478596" y="0"/>
                  </a:lnTo>
                  <a:lnTo>
                    <a:pt x="478596" y="598161"/>
                  </a:lnTo>
                  <a:lnTo>
                    <a:pt x="0" y="598161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b="0" l="-110352" r="-110356" t="0"/>
              </a:stretch>
            </a:blipFill>
            <a:ln>
              <a:noFill/>
            </a:ln>
          </p:spPr>
        </p:sp>
        <p:sp>
          <p:nvSpPr>
            <p:cNvPr id="405" name="Google Shape;405;p38"/>
            <p:cNvSpPr txBox="1"/>
            <p:nvPr/>
          </p:nvSpPr>
          <p:spPr>
            <a:xfrm>
              <a:off x="0" y="0"/>
              <a:ext cx="478600" cy="598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3</a:t>
              </a:r>
              <a:endParaRPr sz="700"/>
            </a:p>
          </p:txBody>
        </p:sp>
      </p:grpSp>
      <p:sp>
        <p:nvSpPr>
          <p:cNvPr id="406" name="Google Shape;406;p38"/>
          <p:cNvSpPr txBox="1"/>
          <p:nvPr/>
        </p:nvSpPr>
        <p:spPr>
          <a:xfrm>
            <a:off x="4726186" y="2513967"/>
            <a:ext cx="1346349" cy="196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Long-term</a:t>
            </a:r>
            <a:endParaRPr sz="700"/>
          </a:p>
        </p:txBody>
      </p:sp>
      <p:sp>
        <p:nvSpPr>
          <p:cNvPr id="407" name="Google Shape;407;p38"/>
          <p:cNvSpPr txBox="1"/>
          <p:nvPr/>
        </p:nvSpPr>
        <p:spPr>
          <a:xfrm>
            <a:off x="4726186" y="2784086"/>
            <a:ext cx="1346349" cy="528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1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AI models • Enterprise BI integration</a:t>
            </a:r>
            <a:endParaRPr sz="700"/>
          </a:p>
        </p:txBody>
      </p:sp>
      <p:sp>
        <p:nvSpPr>
          <p:cNvPr id="408" name="Google Shape;408;p38"/>
          <p:cNvSpPr/>
          <p:nvPr/>
        </p:nvSpPr>
        <p:spPr>
          <a:xfrm>
            <a:off x="4726186" y="3585020"/>
            <a:ext cx="3889200" cy="396383"/>
          </a:xfrm>
          <a:custGeom>
            <a:rect b="b" l="l" r="r" t="t"/>
            <a:pathLst>
              <a:path extrusionOk="0" h="1057021" w="10371201">
                <a:moveTo>
                  <a:pt x="0" y="133985"/>
                </a:moveTo>
                <a:cubicBezTo>
                  <a:pt x="0" y="59944"/>
                  <a:pt x="59944" y="0"/>
                  <a:pt x="133985" y="0"/>
                </a:cubicBezTo>
                <a:lnTo>
                  <a:pt x="10237216" y="0"/>
                </a:lnTo>
                <a:cubicBezTo>
                  <a:pt x="10311257" y="0"/>
                  <a:pt x="10371201" y="59944"/>
                  <a:pt x="10371201" y="133985"/>
                </a:cubicBezTo>
                <a:lnTo>
                  <a:pt x="10371201" y="923036"/>
                </a:lnTo>
                <a:cubicBezTo>
                  <a:pt x="10371201" y="997077"/>
                  <a:pt x="10311257" y="1057021"/>
                  <a:pt x="10237216" y="1057021"/>
                </a:cubicBezTo>
                <a:lnTo>
                  <a:pt x="133985" y="1057021"/>
                </a:lnTo>
                <a:cubicBezTo>
                  <a:pt x="59944" y="1057148"/>
                  <a:pt x="0" y="997077"/>
                  <a:pt x="0" y="923036"/>
                </a:cubicBezTo>
                <a:close/>
              </a:path>
            </a:pathLst>
          </a:custGeom>
          <a:solidFill>
            <a:srgbClr val="00318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409" name="Google Shape;409;p38"/>
          <p:cNvSpPr/>
          <p:nvPr/>
        </p:nvSpPr>
        <p:spPr>
          <a:xfrm>
            <a:off x="4845787" y="3753697"/>
            <a:ext cx="149542" cy="119586"/>
          </a:xfrm>
          <a:custGeom>
            <a:rect b="b" l="l" r="r" t="t"/>
            <a:pathLst>
              <a:path extrusionOk="0" h="318897" w="398780">
                <a:moveTo>
                  <a:pt x="0" y="0"/>
                </a:moveTo>
                <a:lnTo>
                  <a:pt x="398780" y="0"/>
                </a:lnTo>
                <a:lnTo>
                  <a:pt x="398780" y="318897"/>
                </a:lnTo>
                <a:lnTo>
                  <a:pt x="0" y="318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04" l="0" r="3" t="-792"/>
            </a:stretch>
          </a:blipFill>
          <a:ln>
            <a:noFill/>
          </a:ln>
        </p:spPr>
      </p:sp>
      <p:sp>
        <p:nvSpPr>
          <p:cNvPr id="410" name="Google Shape;410;p38"/>
          <p:cNvSpPr txBox="1"/>
          <p:nvPr/>
        </p:nvSpPr>
        <p:spPr>
          <a:xfrm>
            <a:off x="5114925" y="3679241"/>
            <a:ext cx="3838427" cy="188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Roadmap supports scale-up and productionization</a:t>
            </a:r>
            <a:endParaRPr sz="700"/>
          </a:p>
        </p:txBody>
      </p:sp>
      <p:sp>
        <p:nvSpPr>
          <p:cNvPr id="411" name="Google Shape;411;p38"/>
          <p:cNvSpPr/>
          <p:nvPr/>
        </p:nvSpPr>
        <p:spPr>
          <a:xfrm>
            <a:off x="540282" y="4398107"/>
            <a:ext cx="8070343" cy="14288"/>
          </a:xfrm>
          <a:custGeom>
            <a:rect b="b" l="l" r="r" t="t"/>
            <a:pathLst>
              <a:path extrusionOk="0" h="38100" w="21520913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21501863" y="0"/>
                </a:lnTo>
                <a:cubicBezTo>
                  <a:pt x="21512403" y="0"/>
                  <a:pt x="21520913" y="8509"/>
                  <a:pt x="21520913" y="19050"/>
                </a:cubicBezTo>
                <a:cubicBezTo>
                  <a:pt x="21520913" y="29591"/>
                  <a:pt x="21512403" y="38100"/>
                  <a:pt x="21501863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E2E6E9">
              <a:alpha val="2470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8"/>
          <p:cNvSpPr txBox="1"/>
          <p:nvPr/>
        </p:nvSpPr>
        <p:spPr>
          <a:xfrm>
            <a:off x="311511" y="4527480"/>
            <a:ext cx="8527899" cy="188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 — Questions?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